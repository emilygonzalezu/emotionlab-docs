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Play"/>
      <p:regular r:id="rId24"/>
      <p:bold r:id="rId25"/>
    </p:embeddedFont>
    <p:embeddedFont>
      <p:font typeface="Nunito"/>
      <p:regular r:id="rId26"/>
      <p:bold r:id="rId27"/>
      <p:italic r:id="rId28"/>
      <p:boldItalic r:id="rId29"/>
    </p:embeddedFont>
    <p:embeddedFont>
      <p:font typeface="Maven Pro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lay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Nunito-regular.fntdata"/><Relationship Id="rId25" Type="http://schemas.openxmlformats.org/officeDocument/2006/relationships/font" Target="fonts/Play-bold.fntdata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avenPro-bold.fntdata"/><Relationship Id="rId30" Type="http://schemas.openxmlformats.org/officeDocument/2006/relationships/font" Target="fonts/MavenPro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8af5f58c4_3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f8af5f58c4_3_558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8af5f58c4_3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f8af5f58c4_3_453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8af5f58c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f8af5f58c4_3_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8af5f58c4_3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f8af5f58c4_3_88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8af5f58c4_3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f8af5f58c4_3_10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8af5f58c4_3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f8af5f58c4_3_22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8af5f58c4_3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f8af5f58c4_3_34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f8af5f58c4_3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f8af5f58c4_3_77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f8af5f58c4_3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f8af5f58c4_3_66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f8af5f58c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f8af5f58c4_0_12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8af5f58c4_0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3f8af5f58c4_0_1118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f8af5f58c4_0_1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f8af5f58c4_0_131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f8af5f58c4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g3f8af5f58c4_2_12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f8af5f58c4_2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g3f8af5f58c4_2_26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f8af5f58c4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g3f8af5f58c4_0_63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f8af5f58c4_0_1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g3f8af5f58c4_0_1507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f8af5f58c4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g3f8af5f58c4_2_1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1" name="Google Shape;281;p1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2" name="Google Shape;282;p1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"/>
          <p:cNvSpPr txBox="1"/>
          <p:nvPr>
            <p:ph type="ctrTitle"/>
          </p:nvPr>
        </p:nvSpPr>
        <p:spPr>
          <a:xfrm>
            <a:off x="514364" y="1597819"/>
            <a:ext cx="5829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5" name="Google Shape;285;p15"/>
          <p:cNvSpPr txBox="1"/>
          <p:nvPr>
            <p:ph idx="1" type="subTitle"/>
          </p:nvPr>
        </p:nvSpPr>
        <p:spPr>
          <a:xfrm>
            <a:off x="1028727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6" name="Google Shape;286;p15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7" name="Google Shape;287;p15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8" name="Google Shape;288;p15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1" name="Google Shape;291;p16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2" name="Google Shape;292;p16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3" name="Google Shape;293;p16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4" name="Google Shape;294;p16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"/>
          <p:cNvSpPr txBox="1"/>
          <p:nvPr>
            <p:ph type="title"/>
          </p:nvPr>
        </p:nvSpPr>
        <p:spPr>
          <a:xfrm>
            <a:off x="541749" y="3305175"/>
            <a:ext cx="58296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7" name="Google Shape;297;p17"/>
          <p:cNvSpPr txBox="1"/>
          <p:nvPr>
            <p:ph idx="1" type="body"/>
          </p:nvPr>
        </p:nvSpPr>
        <p:spPr>
          <a:xfrm>
            <a:off x="541749" y="2180035"/>
            <a:ext cx="58296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8" name="Google Shape;298;p17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9" name="Google Shape;299;p17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0" name="Google Shape;300;p17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3" name="Google Shape;303;p18"/>
          <p:cNvSpPr txBox="1"/>
          <p:nvPr>
            <p:ph idx="1" type="body"/>
          </p:nvPr>
        </p:nvSpPr>
        <p:spPr>
          <a:xfrm>
            <a:off x="342909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04" name="Google Shape;304;p18"/>
          <p:cNvSpPr txBox="1"/>
          <p:nvPr>
            <p:ph idx="2" type="body"/>
          </p:nvPr>
        </p:nvSpPr>
        <p:spPr>
          <a:xfrm>
            <a:off x="3486243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05" name="Google Shape;305;p18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6" name="Google Shape;306;p18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7" name="Google Shape;307;p18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0" name="Google Shape;310;p19"/>
          <p:cNvSpPr txBox="1"/>
          <p:nvPr>
            <p:ph idx="1" type="body"/>
          </p:nvPr>
        </p:nvSpPr>
        <p:spPr>
          <a:xfrm>
            <a:off x="342909" y="1151335"/>
            <a:ext cx="3030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11" name="Google Shape;311;p19"/>
          <p:cNvSpPr txBox="1"/>
          <p:nvPr>
            <p:ph idx="2" type="body"/>
          </p:nvPr>
        </p:nvSpPr>
        <p:spPr>
          <a:xfrm>
            <a:off x="342909" y="1631156"/>
            <a:ext cx="30303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312" name="Google Shape;312;p19"/>
          <p:cNvSpPr txBox="1"/>
          <p:nvPr>
            <p:ph idx="3" type="body"/>
          </p:nvPr>
        </p:nvSpPr>
        <p:spPr>
          <a:xfrm>
            <a:off x="3483862" y="1151335"/>
            <a:ext cx="30315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13" name="Google Shape;313;p19"/>
          <p:cNvSpPr txBox="1"/>
          <p:nvPr>
            <p:ph idx="4" type="body"/>
          </p:nvPr>
        </p:nvSpPr>
        <p:spPr>
          <a:xfrm>
            <a:off x="3483862" y="1631156"/>
            <a:ext cx="30315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314" name="Google Shape;314;p19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5" name="Google Shape;315;p19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6" name="Google Shape;316;p19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9" name="Google Shape;319;p20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0" name="Google Shape;320;p20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1" name="Google Shape;321;p20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1"/>
          <p:cNvSpPr txBox="1"/>
          <p:nvPr>
            <p:ph type="title"/>
          </p:nvPr>
        </p:nvSpPr>
        <p:spPr>
          <a:xfrm>
            <a:off x="342909" y="204788"/>
            <a:ext cx="22563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4" name="Google Shape;324;p21"/>
          <p:cNvSpPr txBox="1"/>
          <p:nvPr>
            <p:ph idx="1" type="body"/>
          </p:nvPr>
        </p:nvSpPr>
        <p:spPr>
          <a:xfrm>
            <a:off x="2681359" y="204788"/>
            <a:ext cx="38340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325" name="Google Shape;325;p21"/>
          <p:cNvSpPr txBox="1"/>
          <p:nvPr>
            <p:ph idx="2" type="body"/>
          </p:nvPr>
        </p:nvSpPr>
        <p:spPr>
          <a:xfrm>
            <a:off x="342909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326" name="Google Shape;326;p21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7" name="Google Shape;327;p21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8" name="Google Shape;328;p21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"/>
          <p:cNvSpPr txBox="1"/>
          <p:nvPr>
            <p:ph type="title"/>
          </p:nvPr>
        </p:nvSpPr>
        <p:spPr>
          <a:xfrm>
            <a:off x="1344252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1" name="Google Shape;331;p22"/>
          <p:cNvSpPr/>
          <p:nvPr>
            <p:ph idx="2" type="pic"/>
          </p:nvPr>
        </p:nvSpPr>
        <p:spPr>
          <a:xfrm>
            <a:off x="1344252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22"/>
          <p:cNvSpPr txBox="1"/>
          <p:nvPr>
            <p:ph idx="1" type="body"/>
          </p:nvPr>
        </p:nvSpPr>
        <p:spPr>
          <a:xfrm>
            <a:off x="1344252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333" name="Google Shape;333;p22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4" name="Google Shape;334;p22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5" name="Google Shape;335;p22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8" name="Google Shape;338;p23"/>
          <p:cNvSpPr txBox="1"/>
          <p:nvPr>
            <p:ph idx="1" type="body"/>
          </p:nvPr>
        </p:nvSpPr>
        <p:spPr>
          <a:xfrm rot="5400000">
            <a:off x="1731774" y="-188850"/>
            <a:ext cx="3394500" cy="6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9" name="Google Shape;339;p2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0" name="Google Shape;340;p2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1" name="Google Shape;341;p2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"/>
          <p:cNvSpPr txBox="1"/>
          <p:nvPr>
            <p:ph type="title"/>
          </p:nvPr>
        </p:nvSpPr>
        <p:spPr>
          <a:xfrm rot="5400000">
            <a:off x="3549324" y="1628729"/>
            <a:ext cx="43887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4" name="Google Shape;344;p24"/>
          <p:cNvSpPr txBox="1"/>
          <p:nvPr>
            <p:ph idx="1" type="body"/>
          </p:nvPr>
        </p:nvSpPr>
        <p:spPr>
          <a:xfrm rot="5400000">
            <a:off x="406029" y="142828"/>
            <a:ext cx="43887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5" name="Google Shape;345;p2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6" name="Google Shape;346;p2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7" name="Google Shape;347;p2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75" name="Google Shape;275;p13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6" name="Google Shape;276;p1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7" name="Google Shape;277;p1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8" name="Google Shape;278;p1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node.j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EmilyGonzalezU/Emotionlab-Do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 txBox="1"/>
          <p:nvPr/>
        </p:nvSpPr>
        <p:spPr>
          <a:xfrm>
            <a:off x="548655" y="1131570"/>
            <a:ext cx="37719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6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EMOTION</a:t>
            </a:r>
            <a:endParaRPr sz="1100"/>
          </a:p>
        </p:txBody>
      </p:sp>
      <p:sp>
        <p:nvSpPr>
          <p:cNvPr id="353" name="Google Shape;353;p25"/>
          <p:cNvSpPr txBox="1"/>
          <p:nvPr/>
        </p:nvSpPr>
        <p:spPr>
          <a:xfrm>
            <a:off x="548655" y="1563623"/>
            <a:ext cx="37719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6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endParaRPr sz="1100"/>
          </a:p>
        </p:txBody>
      </p:sp>
      <p:sp>
        <p:nvSpPr>
          <p:cNvPr id="354" name="Google Shape;354;p25"/>
          <p:cNvSpPr txBox="1"/>
          <p:nvPr/>
        </p:nvSpPr>
        <p:spPr>
          <a:xfrm>
            <a:off x="548655" y="2160270"/>
            <a:ext cx="44577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Inteligencia Artificial para comprender</a:t>
            </a:r>
            <a:br>
              <a:rPr b="1" i="0" lang="es" sz="1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17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y transformar el estrés en información accionable.</a:t>
            </a:r>
            <a:endParaRPr sz="1100"/>
          </a:p>
        </p:txBody>
      </p:sp>
      <p:sp>
        <p:nvSpPr>
          <p:cNvPr id="355" name="Google Shape;355;p25"/>
          <p:cNvSpPr txBox="1"/>
          <p:nvPr/>
        </p:nvSpPr>
        <p:spPr>
          <a:xfrm>
            <a:off x="548655" y="3669030"/>
            <a:ext cx="5486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Martin Carrere Mosqueira  ·  Emily González Ulloa  ·  Lorena Calfin Huentén</a:t>
            </a:r>
            <a:endParaRPr sz="1100"/>
          </a:p>
        </p:txBody>
      </p:sp>
      <p:sp>
        <p:nvSpPr>
          <p:cNvPr id="356" name="Google Shape;356;p25"/>
          <p:cNvSpPr txBox="1"/>
          <p:nvPr/>
        </p:nvSpPr>
        <p:spPr>
          <a:xfrm>
            <a:off x="548655" y="4046220"/>
            <a:ext cx="445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Ingeniería en Informática  ·  Duoc UC Viña del Mar</a:t>
            </a:r>
            <a:endParaRPr sz="1100"/>
          </a:p>
        </p:txBody>
      </p:sp>
      <p:sp>
        <p:nvSpPr>
          <p:cNvPr id="357" name="Google Shape;357;p25"/>
          <p:cNvSpPr txBox="1"/>
          <p:nvPr/>
        </p:nvSpPr>
        <p:spPr>
          <a:xfrm>
            <a:off x="7544001" y="4423410"/>
            <a:ext cx="308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358" name="Google Shape;358;p25"/>
          <p:cNvSpPr/>
          <p:nvPr/>
        </p:nvSpPr>
        <p:spPr>
          <a:xfrm>
            <a:off x="659736" y="567100"/>
            <a:ext cx="1886100" cy="260700"/>
          </a:xfrm>
          <a:prstGeom prst="roundRect">
            <a:avLst>
              <a:gd fmla="val 16667" name="adj"/>
            </a:avLst>
          </a:prstGeom>
          <a:solidFill>
            <a:srgbClr val="2DD4B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5"/>
          <p:cNvSpPr txBox="1"/>
          <p:nvPr/>
        </p:nvSpPr>
        <p:spPr>
          <a:xfrm>
            <a:off x="659736" y="597960"/>
            <a:ext cx="1886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PROYECTO APT  ·  EMOTIONLAB</a:t>
            </a:r>
            <a:endParaRPr sz="1100"/>
          </a:p>
        </p:txBody>
      </p:sp>
      <p:sp>
        <p:nvSpPr>
          <p:cNvPr id="360" name="Google Shape;360;p25"/>
          <p:cNvSpPr/>
          <p:nvPr/>
        </p:nvSpPr>
        <p:spPr>
          <a:xfrm>
            <a:off x="6531528" y="-685795"/>
            <a:ext cx="3429000" cy="3429000"/>
          </a:xfrm>
          <a:prstGeom prst="ellipse">
            <a:avLst/>
          </a:prstGeom>
          <a:solidFill>
            <a:srgbClr val="6366F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5"/>
          <p:cNvSpPr/>
          <p:nvPr/>
        </p:nvSpPr>
        <p:spPr>
          <a:xfrm>
            <a:off x="7301367" y="1940845"/>
            <a:ext cx="2194800" cy="2194800"/>
          </a:xfrm>
          <a:prstGeom prst="ellipse">
            <a:avLst/>
          </a:prstGeom>
          <a:solidFill>
            <a:srgbClr val="2DD4B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5"/>
          <p:cNvSpPr/>
          <p:nvPr/>
        </p:nvSpPr>
        <p:spPr>
          <a:xfrm>
            <a:off x="6531526" y="3435875"/>
            <a:ext cx="1371600" cy="13716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6"/>
          <p:cNvSpPr/>
          <p:nvPr/>
        </p:nvSpPr>
        <p:spPr>
          <a:xfrm>
            <a:off x="6531528" y="-685795"/>
            <a:ext cx="3429000" cy="3429000"/>
          </a:xfrm>
          <a:prstGeom prst="ellipse">
            <a:avLst/>
          </a:prstGeom>
          <a:solidFill>
            <a:srgbClr val="6366F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6"/>
          <p:cNvSpPr/>
          <p:nvPr/>
        </p:nvSpPr>
        <p:spPr>
          <a:xfrm>
            <a:off x="7301367" y="1940845"/>
            <a:ext cx="2194800" cy="2194800"/>
          </a:xfrm>
          <a:prstGeom prst="ellipse">
            <a:avLst/>
          </a:prstGeom>
          <a:solidFill>
            <a:srgbClr val="2DD4B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6531526" y="3435875"/>
            <a:ext cx="1371600" cy="13716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617236" y="685800"/>
            <a:ext cx="1886100" cy="260700"/>
          </a:xfrm>
          <a:prstGeom prst="roundRect">
            <a:avLst>
              <a:gd fmla="val 16667" name="adj"/>
            </a:avLst>
          </a:prstGeom>
          <a:solidFill>
            <a:srgbClr val="2DD4B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 txBox="1"/>
          <p:nvPr/>
        </p:nvSpPr>
        <p:spPr>
          <a:xfrm>
            <a:off x="617236" y="716660"/>
            <a:ext cx="1886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PROYECTO APT  ·  EMOTIONLAB</a:t>
            </a:r>
            <a:endParaRPr sz="1100"/>
          </a:p>
        </p:txBody>
      </p:sp>
      <p:sp>
        <p:nvSpPr>
          <p:cNvPr id="372" name="Google Shape;372;p26"/>
          <p:cNvSpPr txBox="1"/>
          <p:nvPr/>
        </p:nvSpPr>
        <p:spPr>
          <a:xfrm>
            <a:off x="617236" y="1200150"/>
            <a:ext cx="58296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2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El estrés existe.</a:t>
            </a:r>
            <a:endParaRPr sz="1100"/>
          </a:p>
        </p:txBody>
      </p:sp>
      <p:sp>
        <p:nvSpPr>
          <p:cNvPr id="373" name="Google Shape;373;p26"/>
          <p:cNvSpPr txBox="1"/>
          <p:nvPr/>
        </p:nvSpPr>
        <p:spPr>
          <a:xfrm>
            <a:off x="617236" y="1748790"/>
            <a:ext cx="6309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600" u="none" cap="none" strike="noStrike">
                <a:solidFill>
                  <a:srgbClr val="2DD4BF"/>
                </a:solidFill>
                <a:latin typeface="Play"/>
                <a:ea typeface="Play"/>
                <a:cs typeface="Play"/>
                <a:sym typeface="Play"/>
              </a:rPr>
              <a:t>Ahora podemos empezar a entenderlo.</a:t>
            </a:r>
            <a:endParaRPr sz="1100"/>
          </a:p>
        </p:txBody>
      </p:sp>
      <p:sp>
        <p:nvSpPr>
          <p:cNvPr id="374" name="Google Shape;374;p26"/>
          <p:cNvSpPr txBox="1"/>
          <p:nvPr/>
        </p:nvSpPr>
        <p:spPr>
          <a:xfrm>
            <a:off x="651527" y="2743200"/>
            <a:ext cx="50064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Inteligencia Artificial para convertir reacciones de estrés en información visual, comprensible y accionable.</a:t>
            </a:r>
            <a:endParaRPr sz="1100"/>
          </a:p>
        </p:txBody>
      </p:sp>
      <p:sp>
        <p:nvSpPr>
          <p:cNvPr id="375" name="Google Shape;375;p26"/>
          <p:cNvSpPr txBox="1"/>
          <p:nvPr/>
        </p:nvSpPr>
        <p:spPr>
          <a:xfrm>
            <a:off x="651527" y="3943350"/>
            <a:ext cx="5486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CONTEXTO  ·  PROBLEMÁTICA  ·  NECESIDAD  ·  SOLUCIÓN</a:t>
            </a:r>
            <a:endParaRPr sz="1100"/>
          </a:p>
        </p:txBody>
      </p:sp>
      <p:sp>
        <p:nvSpPr>
          <p:cNvPr id="376" name="Google Shape;376;p26"/>
          <p:cNvSpPr/>
          <p:nvPr/>
        </p:nvSpPr>
        <p:spPr>
          <a:xfrm>
            <a:off x="6892474" y="3874770"/>
            <a:ext cx="1543200" cy="493800"/>
          </a:xfrm>
          <a:prstGeom prst="roundRect">
            <a:avLst>
              <a:gd fmla="val 16667" name="adj"/>
            </a:avLst>
          </a:prstGeom>
          <a:solidFill>
            <a:srgbClr val="6366F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6"/>
          <p:cNvSpPr txBox="1"/>
          <p:nvPr/>
        </p:nvSpPr>
        <p:spPr>
          <a:xfrm>
            <a:off x="6961056" y="3950208"/>
            <a:ext cx="1405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EMOTION</a:t>
            </a:r>
            <a:br>
              <a:rPr b="1" i="0" lang="es" sz="1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1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endParaRPr sz="1100"/>
          </a:p>
        </p:txBody>
      </p:sp>
      <p:sp>
        <p:nvSpPr>
          <p:cNvPr id="378" name="Google Shape;378;p26"/>
          <p:cNvSpPr txBox="1"/>
          <p:nvPr/>
        </p:nvSpPr>
        <p:spPr>
          <a:xfrm>
            <a:off x="8264110" y="4821174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7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7"/>
          <p:cNvSpPr txBox="1"/>
          <p:nvPr/>
        </p:nvSpPr>
        <p:spPr>
          <a:xfrm>
            <a:off x="548655" y="425196"/>
            <a:ext cx="1371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01  ·  CONTEXTO</a:t>
            </a:r>
            <a:endParaRPr sz="1100"/>
          </a:p>
        </p:txBody>
      </p:sp>
      <p:sp>
        <p:nvSpPr>
          <p:cNvPr id="385" name="Google Shape;385;p27"/>
          <p:cNvSpPr txBox="1"/>
          <p:nvPr/>
        </p:nvSpPr>
        <p:spPr>
          <a:xfrm>
            <a:off x="548655" y="754380"/>
            <a:ext cx="7818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3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¿Qué ocurre cuando una</a:t>
            </a:r>
            <a:br>
              <a:rPr b="1" i="0" lang="es" sz="23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i="0" lang="es" sz="23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presentación se convierte en estrés o ansiedad?</a:t>
            </a:r>
            <a:endParaRPr sz="1100"/>
          </a:p>
        </p:txBody>
      </p:sp>
      <p:sp>
        <p:nvSpPr>
          <p:cNvPr id="386" name="Google Shape;386;p27"/>
          <p:cNvSpPr txBox="1"/>
          <p:nvPr/>
        </p:nvSpPr>
        <p:spPr>
          <a:xfrm>
            <a:off x="562371" y="1748790"/>
            <a:ext cx="7406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El proyecto nace frente a una necesidad identificada en el contexto académico: comprender mejor las reacciones de los estudiantes durante sus presentaciones orales.</a:t>
            </a:r>
            <a:endParaRPr sz="1100"/>
          </a:p>
        </p:txBody>
      </p:sp>
      <p:sp>
        <p:nvSpPr>
          <p:cNvPr id="387" name="Google Shape;387;p27"/>
          <p:cNvSpPr/>
          <p:nvPr/>
        </p:nvSpPr>
        <p:spPr>
          <a:xfrm>
            <a:off x="548655" y="2503170"/>
            <a:ext cx="2537700" cy="1611600"/>
          </a:xfrm>
          <a:prstGeom prst="roundRect">
            <a:avLst>
              <a:gd fmla="val 16667" name="adj"/>
            </a:avLst>
          </a:prstGeom>
          <a:solidFill>
            <a:srgbClr val="121B2D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548655" y="2503170"/>
            <a:ext cx="41100" cy="16116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7"/>
          <p:cNvSpPr txBox="1"/>
          <p:nvPr/>
        </p:nvSpPr>
        <p:spPr>
          <a:xfrm>
            <a:off x="800084" y="3036203"/>
            <a:ext cx="26745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ESTUDIANTE</a:t>
            </a:r>
            <a:endParaRPr sz="2500"/>
          </a:p>
        </p:txBody>
      </p:sp>
      <p:sp>
        <p:nvSpPr>
          <p:cNvPr id="390" name="Google Shape;390;p27"/>
          <p:cNvSpPr txBox="1"/>
          <p:nvPr/>
        </p:nvSpPr>
        <p:spPr>
          <a:xfrm>
            <a:off x="154328" y="5021826"/>
            <a:ext cx="2160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1" name="Google Shape;391;p27"/>
          <p:cNvSpPr/>
          <p:nvPr/>
        </p:nvSpPr>
        <p:spPr>
          <a:xfrm>
            <a:off x="3305644" y="2503170"/>
            <a:ext cx="2537700" cy="1611600"/>
          </a:xfrm>
          <a:prstGeom prst="roundRect">
            <a:avLst>
              <a:gd fmla="val 16667" name="adj"/>
            </a:avLst>
          </a:prstGeom>
          <a:solidFill>
            <a:srgbClr val="121B2D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3305644" y="2503170"/>
            <a:ext cx="41100" cy="161160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7"/>
          <p:cNvSpPr txBox="1"/>
          <p:nvPr/>
        </p:nvSpPr>
        <p:spPr>
          <a:xfrm>
            <a:off x="3460652" y="3043838"/>
            <a:ext cx="24051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PRESENTACIÓN</a:t>
            </a:r>
            <a:endParaRPr sz="2000"/>
          </a:p>
        </p:txBody>
      </p:sp>
      <p:sp>
        <p:nvSpPr>
          <p:cNvPr id="394" name="Google Shape;394;p27"/>
          <p:cNvSpPr txBox="1"/>
          <p:nvPr/>
        </p:nvSpPr>
        <p:spPr>
          <a:xfrm>
            <a:off x="2163191" y="5143495"/>
            <a:ext cx="2160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5" name="Google Shape;395;p27"/>
          <p:cNvSpPr/>
          <p:nvPr/>
        </p:nvSpPr>
        <p:spPr>
          <a:xfrm>
            <a:off x="6062634" y="2503170"/>
            <a:ext cx="2537700" cy="1611600"/>
          </a:xfrm>
          <a:prstGeom prst="roundRect">
            <a:avLst>
              <a:gd fmla="val 16667" name="adj"/>
            </a:avLst>
          </a:prstGeom>
          <a:solidFill>
            <a:srgbClr val="121B2D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7"/>
          <p:cNvSpPr/>
          <p:nvPr/>
        </p:nvSpPr>
        <p:spPr>
          <a:xfrm>
            <a:off x="6062634" y="2503170"/>
            <a:ext cx="41100" cy="161160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 txBox="1"/>
          <p:nvPr/>
        </p:nvSpPr>
        <p:spPr>
          <a:xfrm>
            <a:off x="6240048" y="3036200"/>
            <a:ext cx="23601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PROFESIONAL</a:t>
            </a:r>
            <a:endParaRPr sz="2000"/>
          </a:p>
        </p:txBody>
      </p:sp>
      <p:sp>
        <p:nvSpPr>
          <p:cNvPr id="398" name="Google Shape;398;p27"/>
          <p:cNvSpPr txBox="1"/>
          <p:nvPr/>
        </p:nvSpPr>
        <p:spPr>
          <a:xfrm>
            <a:off x="8264110" y="4821174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8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8"/>
          <p:cNvSpPr txBox="1"/>
          <p:nvPr/>
        </p:nvSpPr>
        <p:spPr>
          <a:xfrm>
            <a:off x="548655" y="425196"/>
            <a:ext cx="164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rPr>
              <a:t>02  ·  PROBLEMÁTICA</a:t>
            </a:r>
            <a:endParaRPr sz="1100"/>
          </a:p>
        </p:txBody>
      </p:sp>
      <p:sp>
        <p:nvSpPr>
          <p:cNvPr id="405" name="Google Shape;405;p28"/>
          <p:cNvSpPr txBox="1"/>
          <p:nvPr/>
        </p:nvSpPr>
        <p:spPr>
          <a:xfrm>
            <a:off x="548655" y="720090"/>
            <a:ext cx="74067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3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EL PROBLEMA NO ES EL ESTRÉS.</a:t>
            </a:r>
            <a:endParaRPr sz="1100"/>
          </a:p>
        </p:txBody>
      </p:sp>
      <p:sp>
        <p:nvSpPr>
          <p:cNvPr id="406" name="Google Shape;406;p28"/>
          <p:cNvSpPr txBox="1"/>
          <p:nvPr/>
        </p:nvSpPr>
        <p:spPr>
          <a:xfrm>
            <a:off x="548655" y="1200150"/>
            <a:ext cx="7132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200" u="none" cap="none" strike="noStrike">
                <a:solidFill>
                  <a:srgbClr val="FB7185"/>
                </a:solidFill>
                <a:latin typeface="Play"/>
                <a:ea typeface="Play"/>
                <a:cs typeface="Play"/>
                <a:sym typeface="Play"/>
              </a:rPr>
              <a:t>Es no poder medirlo con facilidad.</a:t>
            </a:r>
            <a:endParaRPr sz="1100"/>
          </a:p>
        </p:txBody>
      </p:sp>
      <p:sp>
        <p:nvSpPr>
          <p:cNvPr id="407" name="Google Shape;407;p28"/>
          <p:cNvSpPr/>
          <p:nvPr/>
        </p:nvSpPr>
        <p:spPr>
          <a:xfrm>
            <a:off x="548655" y="1954530"/>
            <a:ext cx="8024100" cy="720000"/>
          </a:xfrm>
          <a:prstGeom prst="roundRect">
            <a:avLst>
              <a:gd fmla="val 16667" name="adj"/>
            </a:avLst>
          </a:prstGeom>
          <a:solidFill>
            <a:srgbClr val="1D1727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8"/>
          <p:cNvSpPr txBox="1"/>
          <p:nvPr/>
        </p:nvSpPr>
        <p:spPr>
          <a:xfrm>
            <a:off x="788691" y="2091690"/>
            <a:ext cx="7544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Hoy podemos evaluar el desempeño.</a:t>
            </a:r>
            <a:br>
              <a:rPr b="1" i="0" lang="es" sz="1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1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Pero existe información difícil de observar y cuantificar.</a:t>
            </a:r>
            <a:endParaRPr sz="1100"/>
          </a:p>
        </p:txBody>
      </p:sp>
      <p:sp>
        <p:nvSpPr>
          <p:cNvPr id="409" name="Google Shape;409;p28"/>
          <p:cNvSpPr txBox="1"/>
          <p:nvPr/>
        </p:nvSpPr>
        <p:spPr>
          <a:xfrm>
            <a:off x="651527" y="2948940"/>
            <a:ext cx="308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410" name="Google Shape;410;p28"/>
          <p:cNvSpPr txBox="1"/>
          <p:nvPr/>
        </p:nvSpPr>
        <p:spPr>
          <a:xfrm>
            <a:off x="1063018" y="2948940"/>
            <a:ext cx="7132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Reacciones de estrés difíciles de observar</a:t>
            </a:r>
            <a:endParaRPr sz="1100"/>
          </a:p>
        </p:txBody>
      </p:sp>
      <p:sp>
        <p:nvSpPr>
          <p:cNvPr id="411" name="Google Shape;411;p28"/>
          <p:cNvSpPr txBox="1"/>
          <p:nvPr/>
        </p:nvSpPr>
        <p:spPr>
          <a:xfrm>
            <a:off x="651527" y="3449573"/>
            <a:ext cx="308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412" name="Google Shape;412;p28"/>
          <p:cNvSpPr txBox="1"/>
          <p:nvPr/>
        </p:nvSpPr>
        <p:spPr>
          <a:xfrm>
            <a:off x="1063018" y="3449573"/>
            <a:ext cx="7132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Falta de métricas objetivas para analizarlas</a:t>
            </a:r>
            <a:endParaRPr sz="1100"/>
          </a:p>
        </p:txBody>
      </p:sp>
      <p:sp>
        <p:nvSpPr>
          <p:cNvPr id="413" name="Google Shape;413;p28"/>
          <p:cNvSpPr txBox="1"/>
          <p:nvPr/>
        </p:nvSpPr>
        <p:spPr>
          <a:xfrm>
            <a:off x="651527" y="3950208"/>
            <a:ext cx="308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414" name="Google Shape;414;p28"/>
          <p:cNvSpPr txBox="1"/>
          <p:nvPr/>
        </p:nvSpPr>
        <p:spPr>
          <a:xfrm>
            <a:off x="1063018" y="3950208"/>
            <a:ext cx="7132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Información que podría apoyar mejores decisiones</a:t>
            </a:r>
            <a:endParaRPr sz="1100"/>
          </a:p>
        </p:txBody>
      </p:sp>
      <p:sp>
        <p:nvSpPr>
          <p:cNvPr id="415" name="Google Shape;415;p28"/>
          <p:cNvSpPr txBox="1"/>
          <p:nvPr/>
        </p:nvSpPr>
        <p:spPr>
          <a:xfrm>
            <a:off x="8264110" y="4821174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9"/>
          <p:cNvSpPr txBox="1"/>
          <p:nvPr/>
        </p:nvSpPr>
        <p:spPr>
          <a:xfrm>
            <a:off x="548655" y="377190"/>
            <a:ext cx="205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s" sz="800">
                <a:solidFill>
                  <a:srgbClr val="2DD4BF"/>
                </a:solidFill>
              </a:rPr>
              <a:t>3</a:t>
            </a:r>
            <a:r>
              <a:rPr b="1" i="0" lang="es" sz="8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  ·  EVIDENCIA</a:t>
            </a:r>
            <a:endParaRPr sz="1100"/>
          </a:p>
        </p:txBody>
      </p:sp>
      <p:sp>
        <p:nvSpPr>
          <p:cNvPr id="421" name="Google Shape;421;p29"/>
          <p:cNvSpPr txBox="1"/>
          <p:nvPr/>
        </p:nvSpPr>
        <p:spPr>
          <a:xfrm>
            <a:off x="548655" y="720090"/>
            <a:ext cx="4389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Las presentaciones sí generan</a:t>
            </a:r>
            <a:br>
              <a:rPr b="1" i="0" lang="e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elevados niveles de ansiedad.</a:t>
            </a:r>
            <a:endParaRPr sz="1100"/>
          </a:p>
        </p:txBody>
      </p:sp>
      <p:sp>
        <p:nvSpPr>
          <p:cNvPr id="422" name="Google Shape;422;p29"/>
          <p:cNvSpPr txBox="1"/>
          <p:nvPr/>
        </p:nvSpPr>
        <p:spPr>
          <a:xfrm>
            <a:off x="548655" y="1611630"/>
            <a:ext cx="45951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Un estudio con 105 estudiantes universitarios reportó niveles medios de ansiedad superiores al punto medio de una escala de 1 a 10.</a:t>
            </a:r>
            <a:endParaRPr sz="1100"/>
          </a:p>
        </p:txBody>
      </p:sp>
      <p:sp>
        <p:nvSpPr>
          <p:cNvPr id="423" name="Google Shape;423;p29"/>
          <p:cNvSpPr/>
          <p:nvPr/>
        </p:nvSpPr>
        <p:spPr>
          <a:xfrm>
            <a:off x="5040764" y="685800"/>
            <a:ext cx="3257700" cy="3360300"/>
          </a:xfrm>
          <a:prstGeom prst="roundRect">
            <a:avLst>
              <a:gd fmla="val 16667" name="adj"/>
            </a:avLst>
          </a:prstGeom>
          <a:solidFill>
            <a:srgbClr val="111A2C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9"/>
          <p:cNvSpPr txBox="1"/>
          <p:nvPr/>
        </p:nvSpPr>
        <p:spPr>
          <a:xfrm>
            <a:off x="5315092" y="925830"/>
            <a:ext cx="267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ANSIEDAD MEDIA · ESCALA 1–10</a:t>
            </a:r>
            <a:endParaRPr sz="1100"/>
          </a:p>
        </p:txBody>
      </p:sp>
      <p:sp>
        <p:nvSpPr>
          <p:cNvPr id="425" name="Google Shape;425;p29"/>
          <p:cNvSpPr txBox="1"/>
          <p:nvPr/>
        </p:nvSpPr>
        <p:spPr>
          <a:xfrm>
            <a:off x="5315092" y="1460754"/>
            <a:ext cx="99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Individual</a:t>
            </a:r>
            <a:endParaRPr sz="1100"/>
          </a:p>
        </p:txBody>
      </p:sp>
      <p:sp>
        <p:nvSpPr>
          <p:cNvPr id="426" name="Google Shape;426;p29"/>
          <p:cNvSpPr/>
          <p:nvPr/>
        </p:nvSpPr>
        <p:spPr>
          <a:xfrm>
            <a:off x="6343819" y="1474470"/>
            <a:ext cx="1543200" cy="219300"/>
          </a:xfrm>
          <a:prstGeom prst="roundRect">
            <a:avLst>
              <a:gd fmla="val 16667" name="adj"/>
            </a:avLst>
          </a:prstGeom>
          <a:solidFill>
            <a:srgbClr val="252F43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9"/>
          <p:cNvSpPr/>
          <p:nvPr/>
        </p:nvSpPr>
        <p:spPr>
          <a:xfrm>
            <a:off x="6343819" y="1474470"/>
            <a:ext cx="1004700" cy="219300"/>
          </a:xfrm>
          <a:prstGeom prst="roundRect">
            <a:avLst>
              <a:gd fmla="val 16667" name="adj"/>
            </a:avLst>
          </a:prstGeom>
          <a:solidFill>
            <a:srgbClr val="6366F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9"/>
          <p:cNvSpPr txBox="1"/>
          <p:nvPr/>
        </p:nvSpPr>
        <p:spPr>
          <a:xfrm>
            <a:off x="7873194" y="1453896"/>
            <a:ext cx="329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7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6.51</a:t>
            </a:r>
            <a:endParaRPr sz="1100"/>
          </a:p>
        </p:txBody>
      </p:sp>
      <p:sp>
        <p:nvSpPr>
          <p:cNvPr id="429" name="Google Shape;429;p29"/>
          <p:cNvSpPr txBox="1"/>
          <p:nvPr/>
        </p:nvSpPr>
        <p:spPr>
          <a:xfrm>
            <a:off x="5315092" y="2146554"/>
            <a:ext cx="99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Parejas</a:t>
            </a:r>
            <a:endParaRPr sz="1100"/>
          </a:p>
        </p:txBody>
      </p:sp>
      <p:sp>
        <p:nvSpPr>
          <p:cNvPr id="430" name="Google Shape;430;p29"/>
          <p:cNvSpPr/>
          <p:nvPr/>
        </p:nvSpPr>
        <p:spPr>
          <a:xfrm>
            <a:off x="6343819" y="2160270"/>
            <a:ext cx="1543200" cy="219300"/>
          </a:xfrm>
          <a:prstGeom prst="roundRect">
            <a:avLst>
              <a:gd fmla="val 16667" name="adj"/>
            </a:avLst>
          </a:prstGeom>
          <a:solidFill>
            <a:srgbClr val="252F43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9"/>
          <p:cNvSpPr/>
          <p:nvPr/>
        </p:nvSpPr>
        <p:spPr>
          <a:xfrm>
            <a:off x="6343819" y="2160270"/>
            <a:ext cx="1050900" cy="219300"/>
          </a:xfrm>
          <a:prstGeom prst="roundRect">
            <a:avLst>
              <a:gd fmla="val 16667" name="adj"/>
            </a:avLst>
          </a:prstGeom>
          <a:solidFill>
            <a:srgbClr val="2DD4B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9"/>
          <p:cNvSpPr txBox="1"/>
          <p:nvPr/>
        </p:nvSpPr>
        <p:spPr>
          <a:xfrm>
            <a:off x="7873194" y="2139696"/>
            <a:ext cx="329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7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6.81</a:t>
            </a:r>
            <a:endParaRPr sz="1100"/>
          </a:p>
        </p:txBody>
      </p:sp>
      <p:sp>
        <p:nvSpPr>
          <p:cNvPr id="433" name="Google Shape;433;p29"/>
          <p:cNvSpPr txBox="1"/>
          <p:nvPr/>
        </p:nvSpPr>
        <p:spPr>
          <a:xfrm>
            <a:off x="5315100" y="2832350"/>
            <a:ext cx="1050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Autoseleccionado</a:t>
            </a:r>
            <a:endParaRPr sz="1100"/>
          </a:p>
        </p:txBody>
      </p:sp>
      <p:sp>
        <p:nvSpPr>
          <p:cNvPr id="434" name="Google Shape;434;p29"/>
          <p:cNvSpPr/>
          <p:nvPr/>
        </p:nvSpPr>
        <p:spPr>
          <a:xfrm>
            <a:off x="6343819" y="2846070"/>
            <a:ext cx="1543200" cy="219300"/>
          </a:xfrm>
          <a:prstGeom prst="roundRect">
            <a:avLst>
              <a:gd fmla="val 16667" name="adj"/>
            </a:avLst>
          </a:prstGeom>
          <a:solidFill>
            <a:srgbClr val="252F43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9"/>
          <p:cNvSpPr/>
          <p:nvPr/>
        </p:nvSpPr>
        <p:spPr>
          <a:xfrm>
            <a:off x="6343819" y="2846070"/>
            <a:ext cx="976800" cy="219300"/>
          </a:xfrm>
          <a:prstGeom prst="roundRect">
            <a:avLst>
              <a:gd fmla="val 16667" name="adj"/>
            </a:avLst>
          </a:prstGeom>
          <a:solidFill>
            <a:srgbClr val="A78BFA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9"/>
          <p:cNvSpPr txBox="1"/>
          <p:nvPr/>
        </p:nvSpPr>
        <p:spPr>
          <a:xfrm>
            <a:off x="7873194" y="2825496"/>
            <a:ext cx="329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7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6.33</a:t>
            </a:r>
            <a:endParaRPr sz="1100"/>
          </a:p>
        </p:txBody>
      </p:sp>
      <p:sp>
        <p:nvSpPr>
          <p:cNvPr id="437" name="Google Shape;437;p29"/>
          <p:cNvSpPr/>
          <p:nvPr/>
        </p:nvSpPr>
        <p:spPr>
          <a:xfrm>
            <a:off x="548655" y="2777490"/>
            <a:ext cx="4286400" cy="1062900"/>
          </a:xfrm>
          <a:prstGeom prst="roundRect">
            <a:avLst>
              <a:gd fmla="val 16667" name="adj"/>
            </a:avLst>
          </a:prstGeom>
          <a:solidFill>
            <a:srgbClr val="111A2C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9"/>
          <p:cNvSpPr txBox="1"/>
          <p:nvPr/>
        </p:nvSpPr>
        <p:spPr>
          <a:xfrm>
            <a:off x="754400" y="2983229"/>
            <a:ext cx="1440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6.33–6.81 / 10</a:t>
            </a:r>
            <a:endParaRPr sz="1100"/>
          </a:p>
        </p:txBody>
      </p:sp>
      <p:sp>
        <p:nvSpPr>
          <p:cNvPr id="439" name="Google Shape;439;p29"/>
          <p:cNvSpPr txBox="1"/>
          <p:nvPr/>
        </p:nvSpPr>
        <p:spPr>
          <a:xfrm>
            <a:off x="2126037" y="2914650"/>
            <a:ext cx="2434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La ansiedad media se mantuvo sobre el punto medio</a:t>
            </a:r>
            <a:br>
              <a:rPr b="0" i="0" lang="es" sz="1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" sz="1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independientemente del formato.</a:t>
            </a:r>
            <a:endParaRPr sz="1100"/>
          </a:p>
        </p:txBody>
      </p:sp>
      <p:sp>
        <p:nvSpPr>
          <p:cNvPr id="440" name="Google Shape;440;p29"/>
          <p:cNvSpPr txBox="1"/>
          <p:nvPr/>
        </p:nvSpPr>
        <p:spPr>
          <a:xfrm>
            <a:off x="548655" y="4402836"/>
            <a:ext cx="5829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Fuente: Tóth (2026), European Journal of English Language Teaching, 11(4).</a:t>
            </a:r>
            <a:endParaRPr sz="1100"/>
          </a:p>
        </p:txBody>
      </p:sp>
      <p:sp>
        <p:nvSpPr>
          <p:cNvPr id="441" name="Google Shape;441;p29"/>
          <p:cNvSpPr txBox="1"/>
          <p:nvPr/>
        </p:nvSpPr>
        <p:spPr>
          <a:xfrm>
            <a:off x="7544001" y="4423410"/>
            <a:ext cx="308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94A3B8"/>
                </a:solidFill>
              </a:rPr>
              <a:t>03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0"/>
          <p:cNvSpPr txBox="1"/>
          <p:nvPr/>
        </p:nvSpPr>
        <p:spPr>
          <a:xfrm>
            <a:off x="548655" y="377190"/>
            <a:ext cx="2057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s" sz="800">
                <a:solidFill>
                  <a:srgbClr val="2DD4BF"/>
                </a:solidFill>
              </a:rPr>
              <a:t>3</a:t>
            </a:r>
            <a:r>
              <a:rPr b="1" i="0" lang="es" sz="8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  ·  EVIDENCIA</a:t>
            </a:r>
            <a:endParaRPr sz="1100"/>
          </a:p>
        </p:txBody>
      </p:sp>
      <p:sp>
        <p:nvSpPr>
          <p:cNvPr id="447" name="Google Shape;447;p30"/>
          <p:cNvSpPr txBox="1"/>
          <p:nvPr/>
        </p:nvSpPr>
        <p:spPr>
          <a:xfrm>
            <a:off x="548655" y="720090"/>
            <a:ext cx="50064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El problema no es solo sentir estrés.</a:t>
            </a:r>
            <a:br>
              <a:rPr b="1" i="0" lang="e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Es no poder identificar cuándo es alto.</a:t>
            </a:r>
            <a:endParaRPr sz="1100"/>
          </a:p>
        </p:txBody>
      </p:sp>
      <p:sp>
        <p:nvSpPr>
          <p:cNvPr id="448" name="Google Shape;448;p30"/>
          <p:cNvSpPr txBox="1"/>
          <p:nvPr/>
        </p:nvSpPr>
        <p:spPr>
          <a:xfrm>
            <a:off x="548655" y="1611630"/>
            <a:ext cx="4938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En el estudio, la proporción de estudiantes con ansiedad alta (8–10) fue considerable en los tres formatos.</a:t>
            </a:r>
            <a:endParaRPr sz="1100"/>
          </a:p>
        </p:txBody>
      </p:sp>
      <p:sp>
        <p:nvSpPr>
          <p:cNvPr id="449" name="Google Shape;449;p30"/>
          <p:cNvSpPr/>
          <p:nvPr/>
        </p:nvSpPr>
        <p:spPr>
          <a:xfrm>
            <a:off x="617236" y="2228850"/>
            <a:ext cx="2366100" cy="1748700"/>
          </a:xfrm>
          <a:prstGeom prst="roundRect">
            <a:avLst>
              <a:gd fmla="val 16667" name="adj"/>
            </a:avLst>
          </a:prstGeom>
          <a:solidFill>
            <a:srgbClr val="111A2C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0"/>
          <p:cNvSpPr txBox="1"/>
          <p:nvPr/>
        </p:nvSpPr>
        <p:spPr>
          <a:xfrm>
            <a:off x="788691" y="2434590"/>
            <a:ext cx="2023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INDIVIDUAL</a:t>
            </a:r>
            <a:endParaRPr sz="1100"/>
          </a:p>
        </p:txBody>
      </p:sp>
      <p:sp>
        <p:nvSpPr>
          <p:cNvPr id="451" name="Google Shape;451;p30"/>
          <p:cNvSpPr/>
          <p:nvPr/>
        </p:nvSpPr>
        <p:spPr>
          <a:xfrm>
            <a:off x="1063018" y="2743200"/>
            <a:ext cx="1474500" cy="219300"/>
          </a:xfrm>
          <a:prstGeom prst="roundRect">
            <a:avLst>
              <a:gd fmla="val 16667" name="adj"/>
            </a:avLst>
          </a:prstGeom>
          <a:solidFill>
            <a:srgbClr val="252F43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0"/>
          <p:cNvSpPr/>
          <p:nvPr/>
        </p:nvSpPr>
        <p:spPr>
          <a:xfrm>
            <a:off x="1063022" y="2743200"/>
            <a:ext cx="589800" cy="219300"/>
          </a:xfrm>
          <a:prstGeom prst="roundRect">
            <a:avLst>
              <a:gd fmla="val 16667" name="adj"/>
            </a:avLst>
          </a:prstGeom>
          <a:solidFill>
            <a:srgbClr val="6366F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0"/>
          <p:cNvSpPr txBox="1"/>
          <p:nvPr/>
        </p:nvSpPr>
        <p:spPr>
          <a:xfrm>
            <a:off x="788691" y="3120390"/>
            <a:ext cx="20232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3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36%</a:t>
            </a:r>
            <a:endParaRPr sz="1100"/>
          </a:p>
        </p:txBody>
      </p:sp>
      <p:sp>
        <p:nvSpPr>
          <p:cNvPr id="454" name="Google Shape;454;p30"/>
          <p:cNvSpPr txBox="1"/>
          <p:nvPr/>
        </p:nvSpPr>
        <p:spPr>
          <a:xfrm>
            <a:off x="788691" y="3531870"/>
            <a:ext cx="2023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ansiedad alta</a:t>
            </a:r>
            <a:br>
              <a:rPr b="1" i="0" lang="es" sz="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(8–10)</a:t>
            </a:r>
            <a:endParaRPr sz="1100"/>
          </a:p>
        </p:txBody>
      </p:sp>
      <p:sp>
        <p:nvSpPr>
          <p:cNvPr id="455" name="Google Shape;455;p30"/>
          <p:cNvSpPr/>
          <p:nvPr/>
        </p:nvSpPr>
        <p:spPr>
          <a:xfrm>
            <a:off x="3326219" y="2228850"/>
            <a:ext cx="2366100" cy="1748700"/>
          </a:xfrm>
          <a:prstGeom prst="roundRect">
            <a:avLst>
              <a:gd fmla="val 16667" name="adj"/>
            </a:avLst>
          </a:prstGeom>
          <a:solidFill>
            <a:srgbClr val="111A2C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0"/>
          <p:cNvSpPr txBox="1"/>
          <p:nvPr/>
        </p:nvSpPr>
        <p:spPr>
          <a:xfrm>
            <a:off x="3497673" y="2434590"/>
            <a:ext cx="2023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PAREJAS</a:t>
            </a:r>
            <a:endParaRPr sz="1100"/>
          </a:p>
        </p:txBody>
      </p:sp>
      <p:sp>
        <p:nvSpPr>
          <p:cNvPr id="457" name="Google Shape;457;p30"/>
          <p:cNvSpPr/>
          <p:nvPr/>
        </p:nvSpPr>
        <p:spPr>
          <a:xfrm>
            <a:off x="3771926" y="2743200"/>
            <a:ext cx="1492800" cy="219300"/>
          </a:xfrm>
          <a:prstGeom prst="roundRect">
            <a:avLst>
              <a:gd fmla="val 16667" name="adj"/>
            </a:avLst>
          </a:prstGeom>
          <a:solidFill>
            <a:srgbClr val="252F43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0"/>
          <p:cNvSpPr/>
          <p:nvPr/>
        </p:nvSpPr>
        <p:spPr>
          <a:xfrm>
            <a:off x="3772001" y="2743200"/>
            <a:ext cx="860700" cy="219300"/>
          </a:xfrm>
          <a:prstGeom prst="roundRect">
            <a:avLst>
              <a:gd fmla="val 16667" name="adj"/>
            </a:avLst>
          </a:prstGeom>
          <a:solidFill>
            <a:srgbClr val="2DD4B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0"/>
          <p:cNvSpPr txBox="1"/>
          <p:nvPr/>
        </p:nvSpPr>
        <p:spPr>
          <a:xfrm>
            <a:off x="3497673" y="3120390"/>
            <a:ext cx="20232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3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  <a:endParaRPr sz="1100"/>
          </a:p>
        </p:txBody>
      </p:sp>
      <p:sp>
        <p:nvSpPr>
          <p:cNvPr id="460" name="Google Shape;460;p30"/>
          <p:cNvSpPr txBox="1"/>
          <p:nvPr/>
        </p:nvSpPr>
        <p:spPr>
          <a:xfrm>
            <a:off x="3497673" y="3531870"/>
            <a:ext cx="2023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ansiedad alta</a:t>
            </a:r>
            <a:br>
              <a:rPr b="1" i="0" lang="es" sz="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(8–10)</a:t>
            </a:r>
            <a:endParaRPr sz="1100"/>
          </a:p>
        </p:txBody>
      </p:sp>
      <p:sp>
        <p:nvSpPr>
          <p:cNvPr id="461" name="Google Shape;461;p30"/>
          <p:cNvSpPr/>
          <p:nvPr/>
        </p:nvSpPr>
        <p:spPr>
          <a:xfrm>
            <a:off x="6035201" y="2228850"/>
            <a:ext cx="2366100" cy="1748700"/>
          </a:xfrm>
          <a:prstGeom prst="roundRect">
            <a:avLst>
              <a:gd fmla="val 16667" name="adj"/>
            </a:avLst>
          </a:prstGeom>
          <a:solidFill>
            <a:srgbClr val="111A2C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0"/>
          <p:cNvSpPr txBox="1"/>
          <p:nvPr/>
        </p:nvSpPr>
        <p:spPr>
          <a:xfrm>
            <a:off x="6206655" y="2434590"/>
            <a:ext cx="2023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AUTOSELECCIONADO</a:t>
            </a:r>
            <a:endParaRPr sz="1100"/>
          </a:p>
        </p:txBody>
      </p:sp>
      <p:sp>
        <p:nvSpPr>
          <p:cNvPr id="463" name="Google Shape;463;p30"/>
          <p:cNvSpPr/>
          <p:nvPr/>
        </p:nvSpPr>
        <p:spPr>
          <a:xfrm>
            <a:off x="6480983" y="2743200"/>
            <a:ext cx="1474500" cy="219300"/>
          </a:xfrm>
          <a:prstGeom prst="roundRect">
            <a:avLst>
              <a:gd fmla="val 16667" name="adj"/>
            </a:avLst>
          </a:prstGeom>
          <a:solidFill>
            <a:srgbClr val="252F43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0"/>
          <p:cNvSpPr/>
          <p:nvPr/>
        </p:nvSpPr>
        <p:spPr>
          <a:xfrm>
            <a:off x="6480998" y="2743200"/>
            <a:ext cx="435900" cy="219300"/>
          </a:xfrm>
          <a:prstGeom prst="roundRect">
            <a:avLst>
              <a:gd fmla="val 16667" name="adj"/>
            </a:avLst>
          </a:prstGeom>
          <a:solidFill>
            <a:srgbClr val="A78BFA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6206655" y="3120390"/>
            <a:ext cx="20232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3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  <a:endParaRPr sz="1100"/>
          </a:p>
        </p:txBody>
      </p:sp>
      <p:sp>
        <p:nvSpPr>
          <p:cNvPr id="466" name="Google Shape;466;p30"/>
          <p:cNvSpPr txBox="1"/>
          <p:nvPr/>
        </p:nvSpPr>
        <p:spPr>
          <a:xfrm>
            <a:off x="6206655" y="3531870"/>
            <a:ext cx="2023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ansiedad alta</a:t>
            </a:r>
            <a:br>
              <a:rPr b="1" i="0" lang="es" sz="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(8–10)</a:t>
            </a:r>
            <a:endParaRPr sz="1100"/>
          </a:p>
        </p:txBody>
      </p:sp>
      <p:sp>
        <p:nvSpPr>
          <p:cNvPr id="467" name="Google Shape;467;p30"/>
          <p:cNvSpPr/>
          <p:nvPr/>
        </p:nvSpPr>
        <p:spPr>
          <a:xfrm>
            <a:off x="617236" y="4149090"/>
            <a:ext cx="7509900" cy="329100"/>
          </a:xfrm>
          <a:prstGeom prst="roundRect">
            <a:avLst>
              <a:gd fmla="val 16667" name="adj"/>
            </a:avLst>
          </a:prstGeom>
          <a:solidFill>
            <a:srgbClr val="111A2C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788691" y="4210812"/>
            <a:ext cx="7167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Esto refuerza la necesidad de convertir una experiencia difícil de observar en datos objetivos.</a:t>
            </a:r>
            <a:endParaRPr sz="1100"/>
          </a:p>
        </p:txBody>
      </p:sp>
      <p:sp>
        <p:nvSpPr>
          <p:cNvPr id="469" name="Google Shape;469;p30"/>
          <p:cNvSpPr txBox="1"/>
          <p:nvPr/>
        </p:nvSpPr>
        <p:spPr>
          <a:xfrm>
            <a:off x="548655" y="4539996"/>
            <a:ext cx="6995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Fuente: Tóth (2026). La diferencia entre formatos no fue estadísticamente significativa (ANOVA, p = .690).</a:t>
            </a:r>
            <a:endParaRPr sz="1100"/>
          </a:p>
        </p:txBody>
      </p:sp>
      <p:sp>
        <p:nvSpPr>
          <p:cNvPr id="470" name="Google Shape;470;p30"/>
          <p:cNvSpPr txBox="1"/>
          <p:nvPr/>
        </p:nvSpPr>
        <p:spPr>
          <a:xfrm>
            <a:off x="7646776" y="4540010"/>
            <a:ext cx="308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1"/>
          <p:cNvSpPr txBox="1"/>
          <p:nvPr/>
        </p:nvSpPr>
        <p:spPr>
          <a:xfrm>
            <a:off x="548655" y="425196"/>
            <a:ext cx="1371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s" sz="800">
                <a:solidFill>
                  <a:srgbClr val="2DD4BF"/>
                </a:solidFill>
              </a:rPr>
              <a:t>4</a:t>
            </a:r>
            <a:r>
              <a:rPr b="1" i="0" lang="es" sz="8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  ·  NECESIDAD</a:t>
            </a:r>
            <a:endParaRPr sz="1100"/>
          </a:p>
        </p:txBody>
      </p:sp>
      <p:sp>
        <p:nvSpPr>
          <p:cNvPr id="477" name="Google Shape;477;p31"/>
          <p:cNvSpPr txBox="1"/>
          <p:nvPr/>
        </p:nvSpPr>
        <p:spPr>
          <a:xfrm>
            <a:off x="548655" y="720090"/>
            <a:ext cx="6858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3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SI NO PODEMOS MEDIRLO,</a:t>
            </a:r>
            <a:endParaRPr sz="1100"/>
          </a:p>
        </p:txBody>
      </p:sp>
      <p:sp>
        <p:nvSpPr>
          <p:cNvPr id="478" name="Google Shape;478;p31"/>
          <p:cNvSpPr txBox="1"/>
          <p:nvPr/>
        </p:nvSpPr>
        <p:spPr>
          <a:xfrm>
            <a:off x="548655" y="1179576"/>
            <a:ext cx="6995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300" u="none" cap="none" strike="noStrike">
                <a:solidFill>
                  <a:srgbClr val="2DD4BF"/>
                </a:solidFill>
                <a:latin typeface="Play"/>
                <a:ea typeface="Play"/>
                <a:cs typeface="Play"/>
                <a:sym typeface="Play"/>
              </a:rPr>
              <a:t>NO PODEMOS COMPRENDERLO.</a:t>
            </a:r>
            <a:endParaRPr sz="1100"/>
          </a:p>
        </p:txBody>
      </p:sp>
      <p:sp>
        <p:nvSpPr>
          <p:cNvPr id="479" name="Google Shape;479;p31"/>
          <p:cNvSpPr txBox="1"/>
          <p:nvPr/>
        </p:nvSpPr>
        <p:spPr>
          <a:xfrm>
            <a:off x="562371" y="1865376"/>
            <a:ext cx="7406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Necesitamos transformar una experiencia difícil de observar en información objetiva, visual y útil.</a:t>
            </a:r>
            <a:endParaRPr sz="1100"/>
          </a:p>
        </p:txBody>
      </p:sp>
      <p:sp>
        <p:nvSpPr>
          <p:cNvPr id="480" name="Google Shape;480;p31"/>
          <p:cNvSpPr/>
          <p:nvPr/>
        </p:nvSpPr>
        <p:spPr>
          <a:xfrm>
            <a:off x="548655" y="2571750"/>
            <a:ext cx="2537700" cy="1509000"/>
          </a:xfrm>
          <a:prstGeom prst="roundRect">
            <a:avLst>
              <a:gd fmla="val 16667" name="adj"/>
            </a:avLst>
          </a:prstGeom>
          <a:solidFill>
            <a:srgbClr val="121B2D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1"/>
          <p:cNvSpPr/>
          <p:nvPr/>
        </p:nvSpPr>
        <p:spPr>
          <a:xfrm>
            <a:off x="548655" y="2571750"/>
            <a:ext cx="41100" cy="15090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1"/>
          <p:cNvSpPr txBox="1"/>
          <p:nvPr/>
        </p:nvSpPr>
        <p:spPr>
          <a:xfrm>
            <a:off x="754400" y="2756915"/>
            <a:ext cx="21603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MEDIR</a:t>
            </a:r>
            <a:endParaRPr sz="1100"/>
          </a:p>
        </p:txBody>
      </p:sp>
      <p:sp>
        <p:nvSpPr>
          <p:cNvPr id="483" name="Google Shape;483;p31"/>
          <p:cNvSpPr txBox="1"/>
          <p:nvPr/>
        </p:nvSpPr>
        <p:spPr>
          <a:xfrm>
            <a:off x="754400" y="3134106"/>
            <a:ext cx="2160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Convertir variables de desempeño en datos analizables.</a:t>
            </a:r>
            <a:endParaRPr sz="1100"/>
          </a:p>
        </p:txBody>
      </p:sp>
      <p:sp>
        <p:nvSpPr>
          <p:cNvPr id="484" name="Google Shape;484;p31"/>
          <p:cNvSpPr/>
          <p:nvPr/>
        </p:nvSpPr>
        <p:spPr>
          <a:xfrm>
            <a:off x="3305644" y="2571750"/>
            <a:ext cx="2537700" cy="1509000"/>
          </a:xfrm>
          <a:prstGeom prst="roundRect">
            <a:avLst>
              <a:gd fmla="val 16667" name="adj"/>
            </a:avLst>
          </a:prstGeom>
          <a:solidFill>
            <a:srgbClr val="121B2D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1"/>
          <p:cNvSpPr/>
          <p:nvPr/>
        </p:nvSpPr>
        <p:spPr>
          <a:xfrm>
            <a:off x="3305644" y="2571750"/>
            <a:ext cx="41100" cy="150900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1"/>
          <p:cNvSpPr txBox="1"/>
          <p:nvPr/>
        </p:nvSpPr>
        <p:spPr>
          <a:xfrm>
            <a:off x="3511390" y="2756915"/>
            <a:ext cx="21603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ANALIZAR</a:t>
            </a:r>
            <a:endParaRPr sz="1100"/>
          </a:p>
        </p:txBody>
      </p:sp>
      <p:sp>
        <p:nvSpPr>
          <p:cNvPr id="487" name="Google Shape;487;p31"/>
          <p:cNvSpPr txBox="1"/>
          <p:nvPr/>
        </p:nvSpPr>
        <p:spPr>
          <a:xfrm>
            <a:off x="3511390" y="3134106"/>
            <a:ext cx="2160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Utilizar IA para clasificar y detectar patrones de interés.</a:t>
            </a:r>
            <a:endParaRPr sz="1100"/>
          </a:p>
        </p:txBody>
      </p:sp>
      <p:sp>
        <p:nvSpPr>
          <p:cNvPr id="488" name="Google Shape;488;p31"/>
          <p:cNvSpPr/>
          <p:nvPr/>
        </p:nvSpPr>
        <p:spPr>
          <a:xfrm>
            <a:off x="6062634" y="2571750"/>
            <a:ext cx="2537700" cy="1509000"/>
          </a:xfrm>
          <a:prstGeom prst="roundRect">
            <a:avLst>
              <a:gd fmla="val 16667" name="adj"/>
            </a:avLst>
          </a:prstGeom>
          <a:solidFill>
            <a:srgbClr val="121B2D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1"/>
          <p:cNvSpPr/>
          <p:nvPr/>
        </p:nvSpPr>
        <p:spPr>
          <a:xfrm>
            <a:off x="6062634" y="2571750"/>
            <a:ext cx="41100" cy="150900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6268379" y="2756915"/>
            <a:ext cx="21603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COMPRENDER</a:t>
            </a:r>
            <a:endParaRPr sz="1100"/>
          </a:p>
        </p:txBody>
      </p:sp>
      <p:sp>
        <p:nvSpPr>
          <p:cNvPr id="491" name="Google Shape;491;p31"/>
          <p:cNvSpPr txBox="1"/>
          <p:nvPr/>
        </p:nvSpPr>
        <p:spPr>
          <a:xfrm>
            <a:off x="6268379" y="3134106"/>
            <a:ext cx="2160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Presentar resultados de forma visual y accionable.</a:t>
            </a:r>
            <a:endParaRPr sz="1100"/>
          </a:p>
        </p:txBody>
      </p:sp>
      <p:sp>
        <p:nvSpPr>
          <p:cNvPr id="492" name="Google Shape;492;p31"/>
          <p:cNvSpPr txBox="1"/>
          <p:nvPr/>
        </p:nvSpPr>
        <p:spPr>
          <a:xfrm>
            <a:off x="8264110" y="4821174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2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2"/>
          <p:cNvSpPr txBox="1"/>
          <p:nvPr/>
        </p:nvSpPr>
        <p:spPr>
          <a:xfrm>
            <a:off x="548655" y="425196"/>
            <a:ext cx="1371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s" sz="800">
                <a:solidFill>
                  <a:srgbClr val="2DD4BF"/>
                </a:solidFill>
              </a:rPr>
              <a:t>5</a:t>
            </a:r>
            <a:r>
              <a:rPr b="1" i="0" lang="es" sz="8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  ·  SOLUCIÓN</a:t>
            </a:r>
            <a:endParaRPr sz="1100"/>
          </a:p>
        </p:txBody>
      </p:sp>
      <p:sp>
        <p:nvSpPr>
          <p:cNvPr id="499" name="Google Shape;499;p32"/>
          <p:cNvSpPr txBox="1"/>
          <p:nvPr/>
        </p:nvSpPr>
        <p:spPr>
          <a:xfrm>
            <a:off x="548655" y="720090"/>
            <a:ext cx="72012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6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CONOCE EMOTIONLAB.</a:t>
            </a:r>
            <a:endParaRPr sz="1100"/>
          </a:p>
        </p:txBody>
      </p:sp>
      <p:sp>
        <p:nvSpPr>
          <p:cNvPr id="500" name="Google Shape;500;p32"/>
          <p:cNvSpPr txBox="1"/>
          <p:nvPr/>
        </p:nvSpPr>
        <p:spPr>
          <a:xfrm>
            <a:off x="562371" y="1234440"/>
            <a:ext cx="6858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De los datos a la información accionable.</a:t>
            </a:r>
            <a:endParaRPr sz="1100"/>
          </a:p>
        </p:txBody>
      </p:sp>
      <p:sp>
        <p:nvSpPr>
          <p:cNvPr id="501" name="Google Shape;501;p32"/>
          <p:cNvSpPr/>
          <p:nvPr/>
        </p:nvSpPr>
        <p:spPr>
          <a:xfrm>
            <a:off x="377200" y="2057400"/>
            <a:ext cx="1886100" cy="1200300"/>
          </a:xfrm>
          <a:prstGeom prst="roundRect">
            <a:avLst>
              <a:gd fmla="val 16667" name="adj"/>
            </a:avLst>
          </a:prstGeom>
          <a:solidFill>
            <a:srgbClr val="121B2D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2"/>
          <p:cNvSpPr txBox="1"/>
          <p:nvPr/>
        </p:nvSpPr>
        <p:spPr>
          <a:xfrm>
            <a:off x="500647" y="2283714"/>
            <a:ext cx="16323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sz="1100"/>
          </a:p>
        </p:txBody>
      </p:sp>
      <p:sp>
        <p:nvSpPr>
          <p:cNvPr id="503" name="Google Shape;503;p32"/>
          <p:cNvSpPr txBox="1"/>
          <p:nvPr/>
        </p:nvSpPr>
        <p:spPr>
          <a:xfrm>
            <a:off x="514364" y="2674620"/>
            <a:ext cx="161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Variables de desempeño</a:t>
            </a:r>
            <a:endParaRPr sz="1100"/>
          </a:p>
        </p:txBody>
      </p:sp>
      <p:sp>
        <p:nvSpPr>
          <p:cNvPr id="504" name="Google Shape;504;p32"/>
          <p:cNvSpPr/>
          <p:nvPr/>
        </p:nvSpPr>
        <p:spPr>
          <a:xfrm>
            <a:off x="2311208" y="2441448"/>
            <a:ext cx="274200" cy="377100"/>
          </a:xfrm>
          <a:prstGeom prst="chevron">
            <a:avLst>
              <a:gd fmla="val 50000" name="adj"/>
            </a:avLst>
          </a:prstGeom>
          <a:solidFill>
            <a:srgbClr val="94A3B8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2"/>
          <p:cNvSpPr/>
          <p:nvPr/>
        </p:nvSpPr>
        <p:spPr>
          <a:xfrm>
            <a:off x="2537528" y="2057400"/>
            <a:ext cx="1886100" cy="1200300"/>
          </a:xfrm>
          <a:prstGeom prst="roundRect">
            <a:avLst>
              <a:gd fmla="val 16667" name="adj"/>
            </a:avLst>
          </a:prstGeom>
          <a:solidFill>
            <a:srgbClr val="121B2D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2"/>
          <p:cNvSpPr txBox="1"/>
          <p:nvPr/>
        </p:nvSpPr>
        <p:spPr>
          <a:xfrm>
            <a:off x="2660975" y="2283714"/>
            <a:ext cx="16323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IA</a:t>
            </a:r>
            <a:endParaRPr sz="1100"/>
          </a:p>
        </p:txBody>
      </p:sp>
      <p:sp>
        <p:nvSpPr>
          <p:cNvPr id="507" name="Google Shape;507;p32"/>
          <p:cNvSpPr txBox="1"/>
          <p:nvPr/>
        </p:nvSpPr>
        <p:spPr>
          <a:xfrm>
            <a:off x="2674691" y="2674620"/>
            <a:ext cx="161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Clasificación predictiva</a:t>
            </a:r>
            <a:endParaRPr sz="1100"/>
          </a:p>
        </p:txBody>
      </p:sp>
      <p:sp>
        <p:nvSpPr>
          <p:cNvPr id="508" name="Google Shape;508;p32"/>
          <p:cNvSpPr/>
          <p:nvPr/>
        </p:nvSpPr>
        <p:spPr>
          <a:xfrm>
            <a:off x="4471535" y="2441448"/>
            <a:ext cx="274200" cy="377100"/>
          </a:xfrm>
          <a:prstGeom prst="chevron">
            <a:avLst>
              <a:gd fmla="val 50000" name="adj"/>
            </a:avLst>
          </a:prstGeom>
          <a:solidFill>
            <a:srgbClr val="94A3B8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2"/>
          <p:cNvSpPr/>
          <p:nvPr/>
        </p:nvSpPr>
        <p:spPr>
          <a:xfrm>
            <a:off x="4697855" y="2057400"/>
            <a:ext cx="1886100" cy="1200300"/>
          </a:xfrm>
          <a:prstGeom prst="roundRect">
            <a:avLst>
              <a:gd fmla="val 16667" name="adj"/>
            </a:avLst>
          </a:prstGeom>
          <a:solidFill>
            <a:srgbClr val="121B2D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2"/>
          <p:cNvSpPr txBox="1"/>
          <p:nvPr/>
        </p:nvSpPr>
        <p:spPr>
          <a:xfrm>
            <a:off x="4821302" y="2283714"/>
            <a:ext cx="16323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endParaRPr sz="1100"/>
          </a:p>
        </p:txBody>
      </p:sp>
      <p:sp>
        <p:nvSpPr>
          <p:cNvPr id="511" name="Google Shape;511;p32"/>
          <p:cNvSpPr txBox="1"/>
          <p:nvPr/>
        </p:nvSpPr>
        <p:spPr>
          <a:xfrm>
            <a:off x="4835019" y="2674620"/>
            <a:ext cx="161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Resultados interpretables</a:t>
            </a:r>
            <a:endParaRPr sz="1100"/>
          </a:p>
        </p:txBody>
      </p:sp>
      <p:sp>
        <p:nvSpPr>
          <p:cNvPr id="512" name="Google Shape;512;p32"/>
          <p:cNvSpPr/>
          <p:nvPr/>
        </p:nvSpPr>
        <p:spPr>
          <a:xfrm>
            <a:off x="6631863" y="2441448"/>
            <a:ext cx="274200" cy="377100"/>
          </a:xfrm>
          <a:prstGeom prst="chevron">
            <a:avLst>
              <a:gd fmla="val 50000" name="adj"/>
            </a:avLst>
          </a:prstGeom>
          <a:solidFill>
            <a:srgbClr val="94A3B8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2"/>
          <p:cNvSpPr/>
          <p:nvPr/>
        </p:nvSpPr>
        <p:spPr>
          <a:xfrm>
            <a:off x="6858183" y="2057400"/>
            <a:ext cx="1886100" cy="1200300"/>
          </a:xfrm>
          <a:prstGeom prst="roundRect">
            <a:avLst>
              <a:gd fmla="val 16667" name="adj"/>
            </a:avLst>
          </a:prstGeom>
          <a:solidFill>
            <a:srgbClr val="121B2D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2"/>
          <p:cNvSpPr txBox="1"/>
          <p:nvPr/>
        </p:nvSpPr>
        <p:spPr>
          <a:xfrm>
            <a:off x="6981630" y="2283714"/>
            <a:ext cx="16323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sz="1100"/>
          </a:p>
        </p:txBody>
      </p:sp>
      <p:sp>
        <p:nvSpPr>
          <p:cNvPr id="515" name="Google Shape;515;p32"/>
          <p:cNvSpPr txBox="1"/>
          <p:nvPr/>
        </p:nvSpPr>
        <p:spPr>
          <a:xfrm>
            <a:off x="6995346" y="2674620"/>
            <a:ext cx="161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Métricas visuales</a:t>
            </a:r>
            <a:endParaRPr sz="1100"/>
          </a:p>
        </p:txBody>
      </p:sp>
      <p:sp>
        <p:nvSpPr>
          <p:cNvPr id="516" name="Google Shape;516;p32"/>
          <p:cNvSpPr/>
          <p:nvPr/>
        </p:nvSpPr>
        <p:spPr>
          <a:xfrm>
            <a:off x="1063018" y="3669030"/>
            <a:ext cx="7029600" cy="582900"/>
          </a:xfrm>
          <a:prstGeom prst="roundRect">
            <a:avLst>
              <a:gd fmla="val 16667" name="adj"/>
            </a:avLst>
          </a:prstGeom>
          <a:solidFill>
            <a:srgbClr val="123034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1234473" y="3806190"/>
            <a:ext cx="6686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Una herramienta segura y visual para convertir predicciones complejas en métricas comprensibles y accionables.</a:t>
            </a:r>
            <a:endParaRPr sz="1100"/>
          </a:p>
        </p:txBody>
      </p:sp>
      <p:sp>
        <p:nvSpPr>
          <p:cNvPr id="518" name="Google Shape;518;p32"/>
          <p:cNvSpPr txBox="1"/>
          <p:nvPr/>
        </p:nvSpPr>
        <p:spPr>
          <a:xfrm>
            <a:off x="8264110" y="4821174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3"/>
          <p:cNvSpPr txBox="1"/>
          <p:nvPr/>
        </p:nvSpPr>
        <p:spPr>
          <a:xfrm>
            <a:off x="548655" y="425196"/>
            <a:ext cx="1509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s" sz="800">
                <a:solidFill>
                  <a:srgbClr val="A78BFA"/>
                </a:solidFill>
              </a:rPr>
              <a:t>6</a:t>
            </a:r>
            <a:r>
              <a:rPr b="1" i="0" lang="es" sz="8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  ·  DIFERENCIAL</a:t>
            </a:r>
            <a:endParaRPr sz="1100"/>
          </a:p>
        </p:txBody>
      </p:sp>
      <p:sp>
        <p:nvSpPr>
          <p:cNvPr id="525" name="Google Shape;525;p33"/>
          <p:cNvSpPr txBox="1"/>
          <p:nvPr/>
        </p:nvSpPr>
        <p:spPr>
          <a:xfrm>
            <a:off x="548655" y="720090"/>
            <a:ext cx="58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3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NO ESTAMOS CREANDO</a:t>
            </a:r>
            <a:br>
              <a:rPr b="1" i="0" lang="es" sz="23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i="0" lang="es" sz="23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OTRO DASHBOARD.</a:t>
            </a:r>
            <a:endParaRPr sz="1100"/>
          </a:p>
        </p:txBody>
      </p:sp>
      <p:sp>
        <p:nvSpPr>
          <p:cNvPr id="526" name="Google Shape;526;p33"/>
          <p:cNvSpPr txBox="1"/>
          <p:nvPr/>
        </p:nvSpPr>
        <p:spPr>
          <a:xfrm>
            <a:off x="548655" y="1680210"/>
            <a:ext cx="6720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700" u="none" cap="none" strike="noStrike">
                <a:solidFill>
                  <a:srgbClr val="A78BFA"/>
                </a:solidFill>
                <a:latin typeface="Play"/>
                <a:ea typeface="Play"/>
                <a:cs typeface="Play"/>
                <a:sym typeface="Play"/>
              </a:rPr>
              <a:t>Estamos construyendo una solución integral.</a:t>
            </a:r>
            <a:endParaRPr sz="1100"/>
          </a:p>
        </p:txBody>
      </p:sp>
      <p:sp>
        <p:nvSpPr>
          <p:cNvPr id="527" name="Google Shape;527;p33"/>
          <p:cNvSpPr/>
          <p:nvPr/>
        </p:nvSpPr>
        <p:spPr>
          <a:xfrm>
            <a:off x="582946" y="2297430"/>
            <a:ext cx="7852800" cy="452700"/>
          </a:xfrm>
          <a:prstGeom prst="roundRect">
            <a:avLst>
              <a:gd fmla="val 16667" name="adj"/>
            </a:avLst>
          </a:prstGeom>
          <a:solidFill>
            <a:srgbClr val="121B2D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3"/>
          <p:cNvSpPr txBox="1"/>
          <p:nvPr/>
        </p:nvSpPr>
        <p:spPr>
          <a:xfrm>
            <a:off x="768116" y="2414016"/>
            <a:ext cx="2263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INTELIGENCIA ARTIFICIAL</a:t>
            </a:r>
            <a:endParaRPr sz="1100"/>
          </a:p>
        </p:txBody>
      </p:sp>
      <p:sp>
        <p:nvSpPr>
          <p:cNvPr id="529" name="Google Shape;529;p33"/>
          <p:cNvSpPr txBox="1"/>
          <p:nvPr/>
        </p:nvSpPr>
        <p:spPr>
          <a:xfrm>
            <a:off x="2983309" y="2386584"/>
            <a:ext cx="4972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Modelo predictivo de clasificación</a:t>
            </a:r>
            <a:endParaRPr sz="1100"/>
          </a:p>
        </p:txBody>
      </p:sp>
      <p:sp>
        <p:nvSpPr>
          <p:cNvPr id="530" name="Google Shape;530;p33"/>
          <p:cNvSpPr/>
          <p:nvPr/>
        </p:nvSpPr>
        <p:spPr>
          <a:xfrm>
            <a:off x="582946" y="2900934"/>
            <a:ext cx="7852800" cy="452700"/>
          </a:xfrm>
          <a:prstGeom prst="roundRect">
            <a:avLst>
              <a:gd fmla="val 16667" name="adj"/>
            </a:avLst>
          </a:prstGeom>
          <a:solidFill>
            <a:srgbClr val="121B2D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3"/>
          <p:cNvSpPr txBox="1"/>
          <p:nvPr/>
        </p:nvSpPr>
        <p:spPr>
          <a:xfrm>
            <a:off x="768116" y="3017520"/>
            <a:ext cx="2263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 sz="1100"/>
          </a:p>
        </p:txBody>
      </p:sp>
      <p:sp>
        <p:nvSpPr>
          <p:cNvPr id="532" name="Google Shape;532;p33"/>
          <p:cNvSpPr txBox="1"/>
          <p:nvPr/>
        </p:nvSpPr>
        <p:spPr>
          <a:xfrm>
            <a:off x="2983309" y="2990088"/>
            <a:ext cx="4972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Autenticación y protección de datos sensibles</a:t>
            </a:r>
            <a:endParaRPr sz="1100"/>
          </a:p>
        </p:txBody>
      </p:sp>
      <p:sp>
        <p:nvSpPr>
          <p:cNvPr id="533" name="Google Shape;533;p33"/>
          <p:cNvSpPr/>
          <p:nvPr/>
        </p:nvSpPr>
        <p:spPr>
          <a:xfrm>
            <a:off x="582946" y="3504438"/>
            <a:ext cx="7852800" cy="452700"/>
          </a:xfrm>
          <a:prstGeom prst="roundRect">
            <a:avLst>
              <a:gd fmla="val 16667" name="adj"/>
            </a:avLst>
          </a:prstGeom>
          <a:solidFill>
            <a:srgbClr val="121B2D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3"/>
          <p:cNvSpPr txBox="1"/>
          <p:nvPr/>
        </p:nvSpPr>
        <p:spPr>
          <a:xfrm>
            <a:off x="768116" y="3621024"/>
            <a:ext cx="2263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VISUALIZACIÓN</a:t>
            </a:r>
            <a:endParaRPr sz="1100"/>
          </a:p>
        </p:txBody>
      </p:sp>
      <p:sp>
        <p:nvSpPr>
          <p:cNvPr id="535" name="Google Shape;535;p33"/>
          <p:cNvSpPr txBox="1"/>
          <p:nvPr/>
        </p:nvSpPr>
        <p:spPr>
          <a:xfrm>
            <a:off x="2983309" y="3593592"/>
            <a:ext cx="4972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Dashboards y vistas estructuradas según roles</a:t>
            </a:r>
            <a:endParaRPr sz="1100"/>
          </a:p>
        </p:txBody>
      </p:sp>
      <p:sp>
        <p:nvSpPr>
          <p:cNvPr id="536" name="Google Shape;536;p33"/>
          <p:cNvSpPr txBox="1"/>
          <p:nvPr/>
        </p:nvSpPr>
        <p:spPr>
          <a:xfrm>
            <a:off x="685818" y="4354830"/>
            <a:ext cx="7681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IA   +   SEGURIDAD   +   DATOS   +   EXPERIENCIA DE USUARIO</a:t>
            </a:r>
            <a:endParaRPr sz="1100"/>
          </a:p>
        </p:txBody>
      </p:sp>
      <p:sp>
        <p:nvSpPr>
          <p:cNvPr id="537" name="Google Shape;537;p33"/>
          <p:cNvSpPr txBox="1"/>
          <p:nvPr/>
        </p:nvSpPr>
        <p:spPr>
          <a:xfrm>
            <a:off x="8264110" y="4821174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4"/>
          <p:cNvSpPr/>
          <p:nvPr/>
        </p:nvSpPr>
        <p:spPr>
          <a:xfrm>
            <a:off x="0" y="0"/>
            <a:ext cx="9144000" cy="41100"/>
          </a:xfrm>
          <a:prstGeom prst="rect">
            <a:avLst/>
          </a:prstGeom>
          <a:solidFill>
            <a:srgbClr val="5D5FE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4"/>
          <p:cNvSpPr txBox="1"/>
          <p:nvPr/>
        </p:nvSpPr>
        <p:spPr>
          <a:xfrm>
            <a:off x="514364" y="260604"/>
            <a:ext cx="3086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700" u="none" cap="none" strike="noStrike">
                <a:solidFill>
                  <a:srgbClr val="5D5FE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s" sz="700">
                <a:solidFill>
                  <a:srgbClr val="5D5FEF"/>
                </a:solidFill>
              </a:rPr>
              <a:t>7</a:t>
            </a:r>
            <a:r>
              <a:rPr b="1" i="0" lang="es" sz="700" u="none" cap="none" strike="noStrike">
                <a:solidFill>
                  <a:srgbClr val="5D5FEF"/>
                </a:solidFill>
                <a:latin typeface="Arial"/>
                <a:ea typeface="Arial"/>
                <a:cs typeface="Arial"/>
                <a:sym typeface="Arial"/>
              </a:rPr>
              <a:t> · METODOLOGÍA</a:t>
            </a:r>
            <a:endParaRPr sz="1100"/>
          </a:p>
        </p:txBody>
      </p:sp>
      <p:sp>
        <p:nvSpPr>
          <p:cNvPr id="544" name="Google Shape;544;p34"/>
          <p:cNvSpPr txBox="1"/>
          <p:nvPr/>
        </p:nvSpPr>
        <p:spPr>
          <a:xfrm>
            <a:off x="534938" y="562356"/>
            <a:ext cx="7887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9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SCRUM </a:t>
            </a:r>
            <a:r>
              <a:rPr b="1" lang="es" sz="1900">
                <a:solidFill>
                  <a:srgbClr val="F5F7FA"/>
                </a:solidFill>
              </a:rPr>
              <a:t>COMO</a:t>
            </a:r>
            <a:r>
              <a:rPr b="1" i="0" lang="es" sz="19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 FORMA ITERATIVA</a:t>
            </a:r>
            <a:endParaRPr sz="1100"/>
          </a:p>
        </p:txBody>
      </p:sp>
      <p:sp>
        <p:nvSpPr>
          <p:cNvPr id="545" name="Google Shape;545;p34"/>
          <p:cNvSpPr txBox="1"/>
          <p:nvPr/>
        </p:nvSpPr>
        <p:spPr>
          <a:xfrm>
            <a:off x="534938" y="946404"/>
            <a:ext cx="7887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2FD1C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s">
                <a:solidFill>
                  <a:srgbClr val="2FD1C1"/>
                </a:solidFill>
              </a:rPr>
              <a:t>5</a:t>
            </a:r>
            <a:r>
              <a:rPr b="1" i="0" lang="es" sz="1400" u="none" cap="none" strike="noStrike">
                <a:solidFill>
                  <a:srgbClr val="2FD1C1"/>
                </a:solidFill>
                <a:latin typeface="Arial"/>
                <a:ea typeface="Arial"/>
                <a:cs typeface="Arial"/>
                <a:sym typeface="Arial"/>
              </a:rPr>
              <a:t> semanas de desarrollo · 4 Sprints principales</a:t>
            </a:r>
            <a:endParaRPr sz="1100"/>
          </a:p>
        </p:txBody>
      </p:sp>
      <p:sp>
        <p:nvSpPr>
          <p:cNvPr id="546" name="Google Shape;546;p34"/>
          <p:cNvSpPr/>
          <p:nvPr/>
        </p:nvSpPr>
        <p:spPr>
          <a:xfrm>
            <a:off x="534933" y="1508758"/>
            <a:ext cx="1783200" cy="832200"/>
          </a:xfrm>
          <a:prstGeom prst="roundRect">
            <a:avLst>
              <a:gd fmla="val 16667" name="adj"/>
            </a:avLst>
          </a:prstGeom>
          <a:solidFill>
            <a:srgbClr val="121C2F"/>
          </a:solidFill>
          <a:ln cap="flat" cmpd="sng" w="7625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4"/>
          <p:cNvSpPr/>
          <p:nvPr/>
        </p:nvSpPr>
        <p:spPr>
          <a:xfrm>
            <a:off x="534932" y="1508758"/>
            <a:ext cx="30900" cy="802200"/>
          </a:xfrm>
          <a:prstGeom prst="rect">
            <a:avLst/>
          </a:prstGeom>
          <a:solidFill>
            <a:srgbClr val="5D5FE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4"/>
          <p:cNvSpPr txBox="1"/>
          <p:nvPr/>
        </p:nvSpPr>
        <p:spPr>
          <a:xfrm>
            <a:off x="672102" y="1618488"/>
            <a:ext cx="154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SPRINT PLANNING</a:t>
            </a:r>
            <a:endParaRPr sz="1100"/>
          </a:p>
        </p:txBody>
      </p:sp>
      <p:sp>
        <p:nvSpPr>
          <p:cNvPr id="549" name="Google Shape;549;p34"/>
          <p:cNvSpPr txBox="1"/>
          <p:nvPr/>
        </p:nvSpPr>
        <p:spPr>
          <a:xfrm>
            <a:off x="672093" y="1879090"/>
            <a:ext cx="15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9BA5B4"/>
                </a:solidFill>
              </a:rPr>
              <a:t>Al inicio de cada Sprint se asignan roles y tareas por semana</a:t>
            </a:r>
            <a:endParaRPr sz="1100"/>
          </a:p>
        </p:txBody>
      </p:sp>
      <p:sp>
        <p:nvSpPr>
          <p:cNvPr id="550" name="Google Shape;550;p34"/>
          <p:cNvSpPr/>
          <p:nvPr/>
        </p:nvSpPr>
        <p:spPr>
          <a:xfrm>
            <a:off x="2592388" y="1508758"/>
            <a:ext cx="1783200" cy="832200"/>
          </a:xfrm>
          <a:prstGeom prst="roundRect">
            <a:avLst>
              <a:gd fmla="val 16667" name="adj"/>
            </a:avLst>
          </a:prstGeom>
          <a:solidFill>
            <a:srgbClr val="121C2F"/>
          </a:solidFill>
          <a:ln cap="flat" cmpd="sng" w="7625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4"/>
          <p:cNvSpPr/>
          <p:nvPr/>
        </p:nvSpPr>
        <p:spPr>
          <a:xfrm>
            <a:off x="2592386" y="1508758"/>
            <a:ext cx="30900" cy="835800"/>
          </a:xfrm>
          <a:prstGeom prst="rect">
            <a:avLst/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4"/>
          <p:cNvSpPr txBox="1"/>
          <p:nvPr/>
        </p:nvSpPr>
        <p:spPr>
          <a:xfrm>
            <a:off x="2729557" y="1618488"/>
            <a:ext cx="154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DAILY MEETINGS</a:t>
            </a:r>
            <a:endParaRPr sz="1100"/>
          </a:p>
        </p:txBody>
      </p:sp>
      <p:sp>
        <p:nvSpPr>
          <p:cNvPr id="553" name="Google Shape;553;p34"/>
          <p:cNvSpPr txBox="1"/>
          <p:nvPr/>
        </p:nvSpPr>
        <p:spPr>
          <a:xfrm>
            <a:off x="2729548" y="1879090"/>
            <a:ext cx="154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9BA5B4"/>
                </a:solidFill>
                <a:latin typeface="Arial"/>
                <a:ea typeface="Arial"/>
                <a:cs typeface="Arial"/>
                <a:sym typeface="Arial"/>
              </a:rPr>
              <a:t>Sincronización remota 2–3 veces por semana</a:t>
            </a:r>
            <a:endParaRPr sz="1100"/>
          </a:p>
        </p:txBody>
      </p:sp>
      <p:sp>
        <p:nvSpPr>
          <p:cNvPr id="554" name="Google Shape;554;p34"/>
          <p:cNvSpPr/>
          <p:nvPr/>
        </p:nvSpPr>
        <p:spPr>
          <a:xfrm>
            <a:off x="4649843" y="1508758"/>
            <a:ext cx="1783200" cy="832200"/>
          </a:xfrm>
          <a:prstGeom prst="roundRect">
            <a:avLst>
              <a:gd fmla="val 16667" name="adj"/>
            </a:avLst>
          </a:prstGeom>
          <a:solidFill>
            <a:srgbClr val="121C2F"/>
          </a:solidFill>
          <a:ln cap="flat" cmpd="sng" w="7625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4"/>
          <p:cNvSpPr/>
          <p:nvPr/>
        </p:nvSpPr>
        <p:spPr>
          <a:xfrm>
            <a:off x="4649840" y="1508758"/>
            <a:ext cx="30900" cy="832200"/>
          </a:xfrm>
          <a:prstGeom prst="rect">
            <a:avLst/>
          </a:prstGeom>
          <a:solidFill>
            <a:srgbClr val="FF6784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4"/>
          <p:cNvSpPr txBox="1"/>
          <p:nvPr/>
        </p:nvSpPr>
        <p:spPr>
          <a:xfrm>
            <a:off x="4787012" y="1618488"/>
            <a:ext cx="154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SPRINT REVIEW</a:t>
            </a:r>
            <a:endParaRPr sz="1100"/>
          </a:p>
        </p:txBody>
      </p:sp>
      <p:sp>
        <p:nvSpPr>
          <p:cNvPr id="557" name="Google Shape;557;p34"/>
          <p:cNvSpPr txBox="1"/>
          <p:nvPr/>
        </p:nvSpPr>
        <p:spPr>
          <a:xfrm>
            <a:off x="4787003" y="1879090"/>
            <a:ext cx="154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9BA5B4"/>
                </a:solidFill>
                <a:latin typeface="Arial"/>
                <a:ea typeface="Arial"/>
                <a:cs typeface="Arial"/>
                <a:sym typeface="Arial"/>
              </a:rPr>
              <a:t>Presentar un incremento funcional y recibir feedback</a:t>
            </a:r>
            <a:endParaRPr sz="1100"/>
          </a:p>
        </p:txBody>
      </p:sp>
      <p:sp>
        <p:nvSpPr>
          <p:cNvPr id="558" name="Google Shape;558;p34"/>
          <p:cNvSpPr/>
          <p:nvPr/>
        </p:nvSpPr>
        <p:spPr>
          <a:xfrm>
            <a:off x="6707298" y="1508758"/>
            <a:ext cx="1783200" cy="832200"/>
          </a:xfrm>
          <a:prstGeom prst="roundRect">
            <a:avLst>
              <a:gd fmla="val 16667" name="adj"/>
            </a:avLst>
          </a:prstGeom>
          <a:solidFill>
            <a:srgbClr val="121C2F"/>
          </a:solidFill>
          <a:ln cap="flat" cmpd="sng" w="7625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4"/>
          <p:cNvSpPr/>
          <p:nvPr/>
        </p:nvSpPr>
        <p:spPr>
          <a:xfrm>
            <a:off x="6707331" y="1508758"/>
            <a:ext cx="30900" cy="835800"/>
          </a:xfrm>
          <a:prstGeom prst="rect">
            <a:avLst/>
          </a:prstGeom>
          <a:solidFill>
            <a:srgbClr val="F4C84A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4"/>
          <p:cNvSpPr txBox="1"/>
          <p:nvPr/>
        </p:nvSpPr>
        <p:spPr>
          <a:xfrm>
            <a:off x="6844466" y="1618488"/>
            <a:ext cx="154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RETROSPECTIVE</a:t>
            </a:r>
            <a:endParaRPr sz="1100"/>
          </a:p>
        </p:txBody>
      </p:sp>
      <p:sp>
        <p:nvSpPr>
          <p:cNvPr id="561" name="Google Shape;561;p34"/>
          <p:cNvSpPr txBox="1"/>
          <p:nvPr/>
        </p:nvSpPr>
        <p:spPr>
          <a:xfrm>
            <a:off x="6844457" y="1879091"/>
            <a:ext cx="154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9BA5B4"/>
                </a:solidFill>
                <a:latin typeface="Arial"/>
                <a:ea typeface="Arial"/>
                <a:cs typeface="Arial"/>
                <a:sym typeface="Arial"/>
              </a:rPr>
              <a:t>Detectar obstáculos y aplicar mejoras al siguiente Sprint</a:t>
            </a:r>
            <a:endParaRPr sz="1100"/>
          </a:p>
        </p:txBody>
      </p:sp>
      <p:sp>
        <p:nvSpPr>
          <p:cNvPr id="562" name="Google Shape;562;p34"/>
          <p:cNvSpPr/>
          <p:nvPr/>
        </p:nvSpPr>
        <p:spPr>
          <a:xfrm>
            <a:off x="514369" y="2595754"/>
            <a:ext cx="8037900" cy="603600"/>
          </a:xfrm>
          <a:prstGeom prst="roundRect">
            <a:avLst>
              <a:gd fmla="val 16667" name="adj"/>
            </a:avLst>
          </a:prstGeom>
          <a:solidFill>
            <a:srgbClr val="171C2C"/>
          </a:solidFill>
          <a:ln cap="flat" cmpd="sng" w="7625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4"/>
          <p:cNvSpPr txBox="1"/>
          <p:nvPr/>
        </p:nvSpPr>
        <p:spPr>
          <a:xfrm>
            <a:off x="699540" y="2726056"/>
            <a:ext cx="823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700" u="none" cap="none" strike="noStrike">
                <a:solidFill>
                  <a:srgbClr val="2FD1C1"/>
                </a:solidFill>
                <a:latin typeface="Arial"/>
                <a:ea typeface="Arial"/>
                <a:cs typeface="Arial"/>
                <a:sym typeface="Arial"/>
              </a:rPr>
              <a:t>ENFOQUE</a:t>
            </a:r>
            <a:endParaRPr sz="1100"/>
          </a:p>
        </p:txBody>
      </p:sp>
      <p:sp>
        <p:nvSpPr>
          <p:cNvPr id="564" name="Google Shape;564;p34"/>
          <p:cNvSpPr txBox="1"/>
          <p:nvPr/>
        </p:nvSpPr>
        <p:spPr>
          <a:xfrm>
            <a:off x="699540" y="2918080"/>
            <a:ext cx="740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Entregas iterativas + control de versiones + retroalimentación + mejora continua</a:t>
            </a:r>
            <a:endParaRPr sz="1000"/>
          </a:p>
        </p:txBody>
      </p:sp>
      <p:sp>
        <p:nvSpPr>
          <p:cNvPr id="565" name="Google Shape;565;p34"/>
          <p:cNvSpPr txBox="1"/>
          <p:nvPr/>
        </p:nvSpPr>
        <p:spPr>
          <a:xfrm>
            <a:off x="8401274" y="4855464"/>
            <a:ext cx="308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600" u="none" cap="none" strike="noStrike">
                <a:solidFill>
                  <a:srgbClr val="9BA5B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/>
          </a:p>
        </p:txBody>
      </p:sp>
      <p:sp>
        <p:nvSpPr>
          <p:cNvPr id="566" name="Google Shape;566;p34"/>
          <p:cNvSpPr/>
          <p:nvPr/>
        </p:nvSpPr>
        <p:spPr>
          <a:xfrm>
            <a:off x="500620" y="3609395"/>
            <a:ext cx="1783200" cy="832200"/>
          </a:xfrm>
          <a:prstGeom prst="roundRect">
            <a:avLst>
              <a:gd fmla="val 16667" name="adj"/>
            </a:avLst>
          </a:prstGeom>
          <a:solidFill>
            <a:srgbClr val="121C2F"/>
          </a:solidFill>
          <a:ln cap="flat" cmpd="sng" w="7625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4"/>
          <p:cNvSpPr/>
          <p:nvPr/>
        </p:nvSpPr>
        <p:spPr>
          <a:xfrm>
            <a:off x="500618" y="3609396"/>
            <a:ext cx="30900" cy="802200"/>
          </a:xfrm>
          <a:prstGeom prst="rect">
            <a:avLst/>
          </a:prstGeom>
          <a:solidFill>
            <a:srgbClr val="5D5FE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4"/>
          <p:cNvSpPr txBox="1"/>
          <p:nvPr/>
        </p:nvSpPr>
        <p:spPr>
          <a:xfrm>
            <a:off x="637789" y="3719125"/>
            <a:ext cx="154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SPRINT </a:t>
            </a:r>
            <a:r>
              <a:rPr b="1" lang="es" sz="800">
                <a:solidFill>
                  <a:srgbClr val="F5F7FA"/>
                </a:solidFill>
              </a:rPr>
              <a:t>1</a:t>
            </a:r>
            <a:endParaRPr sz="1100"/>
          </a:p>
        </p:txBody>
      </p:sp>
      <p:sp>
        <p:nvSpPr>
          <p:cNvPr id="569" name="Google Shape;569;p34"/>
          <p:cNvSpPr txBox="1"/>
          <p:nvPr/>
        </p:nvSpPr>
        <p:spPr>
          <a:xfrm>
            <a:off x="637779" y="3979728"/>
            <a:ext cx="154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9BA5B4"/>
                </a:solidFill>
              </a:rPr>
              <a:t>Modelo predictivo inicial </a:t>
            </a:r>
            <a:endParaRPr sz="800">
              <a:solidFill>
                <a:srgbClr val="9BA5B4"/>
              </a:solidFill>
            </a:endParaRPr>
          </a:p>
        </p:txBody>
      </p:sp>
      <p:sp>
        <p:nvSpPr>
          <p:cNvPr id="570" name="Google Shape;570;p34"/>
          <p:cNvSpPr/>
          <p:nvPr/>
        </p:nvSpPr>
        <p:spPr>
          <a:xfrm>
            <a:off x="2558074" y="3609395"/>
            <a:ext cx="1783200" cy="832200"/>
          </a:xfrm>
          <a:prstGeom prst="roundRect">
            <a:avLst>
              <a:gd fmla="val 16667" name="adj"/>
            </a:avLst>
          </a:prstGeom>
          <a:solidFill>
            <a:srgbClr val="121C2F"/>
          </a:solidFill>
          <a:ln cap="flat" cmpd="sng" w="7625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4"/>
          <p:cNvSpPr/>
          <p:nvPr/>
        </p:nvSpPr>
        <p:spPr>
          <a:xfrm>
            <a:off x="2558072" y="3609395"/>
            <a:ext cx="30900" cy="835800"/>
          </a:xfrm>
          <a:prstGeom prst="rect">
            <a:avLst/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4"/>
          <p:cNvSpPr txBox="1"/>
          <p:nvPr/>
        </p:nvSpPr>
        <p:spPr>
          <a:xfrm>
            <a:off x="2695243" y="3719125"/>
            <a:ext cx="154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F5F7FA"/>
                </a:solidFill>
              </a:rPr>
              <a:t>SPRINT 2</a:t>
            </a:r>
            <a:endParaRPr sz="1100"/>
          </a:p>
        </p:txBody>
      </p:sp>
      <p:sp>
        <p:nvSpPr>
          <p:cNvPr id="573" name="Google Shape;573;p34"/>
          <p:cNvSpPr txBox="1"/>
          <p:nvPr/>
        </p:nvSpPr>
        <p:spPr>
          <a:xfrm>
            <a:off x="2695234" y="3979728"/>
            <a:ext cx="15432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ts val="800"/>
              <a:buNone/>
            </a:pPr>
            <a:r>
              <a:rPr lang="es" sz="800">
                <a:solidFill>
                  <a:srgbClr val="9BA5B4"/>
                </a:solidFill>
              </a:rPr>
              <a:t>Interfaz web de ejecutable y analíticas</a:t>
            </a:r>
            <a:endParaRPr sz="1100"/>
          </a:p>
        </p:txBody>
      </p:sp>
      <p:sp>
        <p:nvSpPr>
          <p:cNvPr id="574" name="Google Shape;574;p34"/>
          <p:cNvSpPr/>
          <p:nvPr/>
        </p:nvSpPr>
        <p:spPr>
          <a:xfrm>
            <a:off x="4615529" y="3609395"/>
            <a:ext cx="1783200" cy="832200"/>
          </a:xfrm>
          <a:prstGeom prst="roundRect">
            <a:avLst>
              <a:gd fmla="val 16667" name="adj"/>
            </a:avLst>
          </a:prstGeom>
          <a:solidFill>
            <a:srgbClr val="121C2F"/>
          </a:solidFill>
          <a:ln cap="flat" cmpd="sng" w="7625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4"/>
          <p:cNvSpPr/>
          <p:nvPr/>
        </p:nvSpPr>
        <p:spPr>
          <a:xfrm>
            <a:off x="4615526" y="3609396"/>
            <a:ext cx="30900" cy="832200"/>
          </a:xfrm>
          <a:prstGeom prst="rect">
            <a:avLst/>
          </a:prstGeom>
          <a:solidFill>
            <a:srgbClr val="FF6784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4"/>
          <p:cNvSpPr txBox="1"/>
          <p:nvPr/>
        </p:nvSpPr>
        <p:spPr>
          <a:xfrm>
            <a:off x="4752698" y="3719125"/>
            <a:ext cx="154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F5F7FA"/>
                </a:solidFill>
              </a:rPr>
              <a:t>SPRINT 3</a:t>
            </a:r>
            <a:endParaRPr sz="1100"/>
          </a:p>
        </p:txBody>
      </p:sp>
      <p:sp>
        <p:nvSpPr>
          <p:cNvPr id="577" name="Google Shape;577;p34"/>
          <p:cNvSpPr txBox="1"/>
          <p:nvPr/>
        </p:nvSpPr>
        <p:spPr>
          <a:xfrm>
            <a:off x="4752689" y="3979728"/>
            <a:ext cx="154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ts val="800"/>
              <a:buNone/>
            </a:pPr>
            <a:r>
              <a:rPr lang="es" sz="800">
                <a:solidFill>
                  <a:srgbClr val="9BA5B4"/>
                </a:solidFill>
              </a:rPr>
              <a:t>Seguridad y autenticación</a:t>
            </a:r>
            <a:endParaRPr sz="1100"/>
          </a:p>
        </p:txBody>
      </p:sp>
      <p:sp>
        <p:nvSpPr>
          <p:cNvPr id="578" name="Google Shape;578;p34"/>
          <p:cNvSpPr/>
          <p:nvPr/>
        </p:nvSpPr>
        <p:spPr>
          <a:xfrm>
            <a:off x="6672984" y="3609395"/>
            <a:ext cx="1783200" cy="832200"/>
          </a:xfrm>
          <a:prstGeom prst="roundRect">
            <a:avLst>
              <a:gd fmla="val 16667" name="adj"/>
            </a:avLst>
          </a:prstGeom>
          <a:solidFill>
            <a:srgbClr val="121C2F"/>
          </a:solidFill>
          <a:ln cap="flat" cmpd="sng" w="7625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9BA5B4"/>
              </a:solidFill>
            </a:endParaRPr>
          </a:p>
        </p:txBody>
      </p:sp>
      <p:sp>
        <p:nvSpPr>
          <p:cNvPr id="579" name="Google Shape;579;p34"/>
          <p:cNvSpPr/>
          <p:nvPr/>
        </p:nvSpPr>
        <p:spPr>
          <a:xfrm>
            <a:off x="6673018" y="3609395"/>
            <a:ext cx="30900" cy="835800"/>
          </a:xfrm>
          <a:prstGeom prst="rect">
            <a:avLst/>
          </a:prstGeom>
          <a:solidFill>
            <a:srgbClr val="F4C84A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4"/>
          <p:cNvSpPr txBox="1"/>
          <p:nvPr/>
        </p:nvSpPr>
        <p:spPr>
          <a:xfrm>
            <a:off x="6810152" y="3719125"/>
            <a:ext cx="154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F5F7FA"/>
                </a:solidFill>
              </a:rPr>
              <a:t>SPRINT 4</a:t>
            </a:r>
            <a:endParaRPr sz="1100"/>
          </a:p>
        </p:txBody>
      </p:sp>
      <p:sp>
        <p:nvSpPr>
          <p:cNvPr id="581" name="Google Shape;581;p34"/>
          <p:cNvSpPr txBox="1"/>
          <p:nvPr/>
        </p:nvSpPr>
        <p:spPr>
          <a:xfrm>
            <a:off x="6810144" y="3979728"/>
            <a:ext cx="15432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ts val="800"/>
              <a:buNone/>
            </a:pPr>
            <a:r>
              <a:rPr lang="es" sz="800">
                <a:solidFill>
                  <a:srgbClr val="9BA5B4"/>
                </a:solidFill>
              </a:rPr>
              <a:t>Integración del modelo modificado</a:t>
            </a:r>
            <a:endParaRPr sz="800">
              <a:solidFill>
                <a:srgbClr val="9BA5B4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5"/>
          <p:cNvSpPr/>
          <p:nvPr/>
        </p:nvSpPr>
        <p:spPr>
          <a:xfrm>
            <a:off x="0" y="0"/>
            <a:ext cx="9144000" cy="41100"/>
          </a:xfrm>
          <a:prstGeom prst="rect">
            <a:avLst/>
          </a:prstGeom>
          <a:solidFill>
            <a:srgbClr val="FF6784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5"/>
          <p:cNvSpPr txBox="1"/>
          <p:nvPr/>
        </p:nvSpPr>
        <p:spPr>
          <a:xfrm>
            <a:off x="514364" y="260604"/>
            <a:ext cx="3086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700" u="none" cap="none" strike="noStrike">
                <a:solidFill>
                  <a:srgbClr val="FF678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s" sz="700">
                <a:solidFill>
                  <a:srgbClr val="FF6784"/>
                </a:solidFill>
              </a:rPr>
              <a:t>8</a:t>
            </a:r>
            <a:r>
              <a:rPr b="1" i="0" lang="es" sz="700" u="none" cap="none" strike="noStrike">
                <a:solidFill>
                  <a:srgbClr val="FF6784"/>
                </a:solidFill>
                <a:latin typeface="Arial"/>
                <a:ea typeface="Arial"/>
                <a:cs typeface="Arial"/>
                <a:sym typeface="Arial"/>
              </a:rPr>
              <a:t> · ROLES DEL EQUIPO</a:t>
            </a:r>
            <a:endParaRPr sz="1100"/>
          </a:p>
        </p:txBody>
      </p:sp>
      <p:sp>
        <p:nvSpPr>
          <p:cNvPr id="588" name="Google Shape;588;p35"/>
          <p:cNvSpPr txBox="1"/>
          <p:nvPr/>
        </p:nvSpPr>
        <p:spPr>
          <a:xfrm>
            <a:off x="534938" y="562356"/>
            <a:ext cx="7887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9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TRES ROLES, UN MISMO OBJETIVO</a:t>
            </a:r>
            <a:endParaRPr sz="1100"/>
          </a:p>
        </p:txBody>
      </p:sp>
      <p:sp>
        <p:nvSpPr>
          <p:cNvPr id="589" name="Google Shape;589;p35"/>
          <p:cNvSpPr txBox="1"/>
          <p:nvPr/>
        </p:nvSpPr>
        <p:spPr>
          <a:xfrm>
            <a:off x="534938" y="946404"/>
            <a:ext cx="7887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2FD1C1"/>
                </a:solidFill>
                <a:latin typeface="Arial"/>
                <a:ea typeface="Arial"/>
                <a:cs typeface="Arial"/>
                <a:sym typeface="Arial"/>
              </a:rPr>
              <a:t>Distribución basada en fortalezas y necesidades del proyecto</a:t>
            </a:r>
            <a:endParaRPr sz="1100"/>
          </a:p>
        </p:txBody>
      </p:sp>
      <p:sp>
        <p:nvSpPr>
          <p:cNvPr id="590" name="Google Shape;590;p35"/>
          <p:cNvSpPr/>
          <p:nvPr/>
        </p:nvSpPr>
        <p:spPr>
          <a:xfrm>
            <a:off x="553126" y="1631695"/>
            <a:ext cx="2551200" cy="2297400"/>
          </a:xfrm>
          <a:prstGeom prst="roundRect">
            <a:avLst>
              <a:gd fmla="val 16667" name="adj"/>
            </a:avLst>
          </a:prstGeom>
          <a:solidFill>
            <a:srgbClr val="121C2F"/>
          </a:solidFill>
          <a:ln cap="flat" cmpd="sng" w="7625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5"/>
          <p:cNvSpPr/>
          <p:nvPr/>
        </p:nvSpPr>
        <p:spPr>
          <a:xfrm>
            <a:off x="690289" y="1782571"/>
            <a:ext cx="377100" cy="377100"/>
          </a:xfrm>
          <a:prstGeom prst="ellipse">
            <a:avLst/>
          </a:prstGeom>
          <a:solidFill>
            <a:srgbClr val="5D5FE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5"/>
          <p:cNvSpPr txBox="1"/>
          <p:nvPr/>
        </p:nvSpPr>
        <p:spPr>
          <a:xfrm>
            <a:off x="1147912" y="1906023"/>
            <a:ext cx="17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MARTIN CARRERE</a:t>
            </a:r>
            <a:endParaRPr sz="1100"/>
          </a:p>
        </p:txBody>
      </p:sp>
      <p:sp>
        <p:nvSpPr>
          <p:cNvPr id="593" name="Google Shape;593;p35"/>
          <p:cNvSpPr txBox="1"/>
          <p:nvPr/>
        </p:nvSpPr>
        <p:spPr>
          <a:xfrm>
            <a:off x="690314" y="2306440"/>
            <a:ext cx="2229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5D5FEF"/>
                </a:solidFill>
              </a:rPr>
              <a:t>AI Support </a:t>
            </a:r>
            <a:r>
              <a:rPr b="1" i="0" lang="es" sz="900" u="none" cap="none" strike="noStrike">
                <a:solidFill>
                  <a:srgbClr val="5D5FEF"/>
                </a:solidFill>
                <a:latin typeface="Arial"/>
                <a:ea typeface="Arial"/>
                <a:cs typeface="Arial"/>
                <a:sym typeface="Arial"/>
              </a:rPr>
              <a:t>&amp; General Developer</a:t>
            </a:r>
            <a:endParaRPr sz="1100"/>
          </a:p>
        </p:txBody>
      </p:sp>
      <p:sp>
        <p:nvSpPr>
          <p:cNvPr id="594" name="Google Shape;594;p35"/>
          <p:cNvSpPr txBox="1"/>
          <p:nvPr/>
        </p:nvSpPr>
        <p:spPr>
          <a:xfrm>
            <a:off x="690289" y="2591815"/>
            <a:ext cx="2229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4C84A"/>
                </a:solidFill>
                <a:latin typeface="Arial"/>
                <a:ea typeface="Arial"/>
                <a:cs typeface="Arial"/>
                <a:sym typeface="Arial"/>
              </a:rPr>
              <a:t>Apoyo IA · Frontend · Backend</a:t>
            </a:r>
            <a:endParaRPr sz="1100"/>
          </a:p>
        </p:txBody>
      </p:sp>
      <p:sp>
        <p:nvSpPr>
          <p:cNvPr id="595" name="Google Shape;595;p35"/>
          <p:cNvSpPr txBox="1"/>
          <p:nvPr/>
        </p:nvSpPr>
        <p:spPr>
          <a:xfrm>
            <a:off x="690289" y="2969004"/>
            <a:ext cx="2229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9BA5B4"/>
                </a:solidFill>
              </a:rPr>
              <a:t>Brinda soporte operativo en las distintas capas y apoya el desarrollo transversal</a:t>
            </a:r>
            <a:endParaRPr sz="1100"/>
          </a:p>
        </p:txBody>
      </p:sp>
      <p:sp>
        <p:nvSpPr>
          <p:cNvPr id="596" name="Google Shape;596;p35"/>
          <p:cNvSpPr/>
          <p:nvPr/>
        </p:nvSpPr>
        <p:spPr>
          <a:xfrm>
            <a:off x="3296399" y="1631695"/>
            <a:ext cx="2551200" cy="2297400"/>
          </a:xfrm>
          <a:prstGeom prst="roundRect">
            <a:avLst>
              <a:gd fmla="val 16667" name="adj"/>
            </a:avLst>
          </a:prstGeom>
          <a:solidFill>
            <a:srgbClr val="121C2F"/>
          </a:solidFill>
          <a:ln cap="flat" cmpd="sng" w="7625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5"/>
          <p:cNvSpPr/>
          <p:nvPr/>
        </p:nvSpPr>
        <p:spPr>
          <a:xfrm>
            <a:off x="3433563" y="1782571"/>
            <a:ext cx="377100" cy="377100"/>
          </a:xfrm>
          <a:prstGeom prst="ellipse">
            <a:avLst/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5"/>
          <p:cNvSpPr txBox="1"/>
          <p:nvPr/>
        </p:nvSpPr>
        <p:spPr>
          <a:xfrm>
            <a:off x="3898660" y="1906023"/>
            <a:ext cx="17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EMILY GONZÁLEZ</a:t>
            </a:r>
            <a:endParaRPr sz="1100"/>
          </a:p>
        </p:txBody>
      </p:sp>
      <p:sp>
        <p:nvSpPr>
          <p:cNvPr id="599" name="Google Shape;599;p35"/>
          <p:cNvSpPr txBox="1"/>
          <p:nvPr/>
        </p:nvSpPr>
        <p:spPr>
          <a:xfrm>
            <a:off x="3433563" y="2306440"/>
            <a:ext cx="2229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2FD1C1"/>
                </a:solidFill>
                <a:latin typeface="Arial"/>
                <a:ea typeface="Arial"/>
                <a:cs typeface="Arial"/>
                <a:sym typeface="Arial"/>
              </a:rPr>
              <a:t>Lead AI Engineer &amp; DevOps</a:t>
            </a:r>
            <a:endParaRPr sz="1100"/>
          </a:p>
        </p:txBody>
      </p:sp>
      <p:sp>
        <p:nvSpPr>
          <p:cNvPr id="600" name="Google Shape;600;p35"/>
          <p:cNvSpPr txBox="1"/>
          <p:nvPr/>
        </p:nvSpPr>
        <p:spPr>
          <a:xfrm>
            <a:off x="3433563" y="2591815"/>
            <a:ext cx="2229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4C84A"/>
                </a:solidFill>
                <a:latin typeface="Arial"/>
                <a:ea typeface="Arial"/>
                <a:cs typeface="Arial"/>
                <a:sym typeface="Arial"/>
              </a:rPr>
              <a:t>IA · API · Repositorios · Ejecutable</a:t>
            </a:r>
            <a:endParaRPr sz="1100"/>
          </a:p>
        </p:txBody>
      </p:sp>
      <p:sp>
        <p:nvSpPr>
          <p:cNvPr id="601" name="Google Shape;601;p35"/>
          <p:cNvSpPr txBox="1"/>
          <p:nvPr/>
        </p:nvSpPr>
        <p:spPr>
          <a:xfrm>
            <a:off x="3433563" y="2969004"/>
            <a:ext cx="2229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9BA5B4"/>
                </a:solidFill>
                <a:latin typeface="Arial"/>
                <a:ea typeface="Arial"/>
                <a:cs typeface="Arial"/>
                <a:sym typeface="Arial"/>
              </a:rPr>
              <a:t>Diseña y evalúa el modelo, desarrolla la API y gestiona el entorno</a:t>
            </a:r>
            <a:endParaRPr sz="1100"/>
          </a:p>
        </p:txBody>
      </p:sp>
      <p:sp>
        <p:nvSpPr>
          <p:cNvPr id="602" name="Google Shape;602;p35"/>
          <p:cNvSpPr/>
          <p:nvPr/>
        </p:nvSpPr>
        <p:spPr>
          <a:xfrm>
            <a:off x="6039671" y="1631695"/>
            <a:ext cx="2551200" cy="2297400"/>
          </a:xfrm>
          <a:prstGeom prst="roundRect">
            <a:avLst>
              <a:gd fmla="val 16667" name="adj"/>
            </a:avLst>
          </a:prstGeom>
          <a:solidFill>
            <a:srgbClr val="121C2F"/>
          </a:solidFill>
          <a:ln cap="flat" cmpd="sng" w="7625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5"/>
          <p:cNvSpPr/>
          <p:nvPr/>
        </p:nvSpPr>
        <p:spPr>
          <a:xfrm>
            <a:off x="6176835" y="1782571"/>
            <a:ext cx="377100" cy="377100"/>
          </a:xfrm>
          <a:prstGeom prst="ellipse">
            <a:avLst/>
          </a:prstGeom>
          <a:solidFill>
            <a:srgbClr val="FF6784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5"/>
          <p:cNvSpPr txBox="1"/>
          <p:nvPr/>
        </p:nvSpPr>
        <p:spPr>
          <a:xfrm>
            <a:off x="6649408" y="1906023"/>
            <a:ext cx="17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LORENA CALFIN</a:t>
            </a:r>
            <a:endParaRPr sz="1100"/>
          </a:p>
        </p:txBody>
      </p:sp>
      <p:sp>
        <p:nvSpPr>
          <p:cNvPr id="605" name="Google Shape;605;p35"/>
          <p:cNvSpPr txBox="1"/>
          <p:nvPr/>
        </p:nvSpPr>
        <p:spPr>
          <a:xfrm>
            <a:off x="6176835" y="2306440"/>
            <a:ext cx="2229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FF6784"/>
                </a:solidFill>
                <a:latin typeface="Arial"/>
                <a:ea typeface="Arial"/>
                <a:cs typeface="Arial"/>
                <a:sym typeface="Arial"/>
              </a:rPr>
              <a:t>Scrum Master &amp; UI/UX Developer</a:t>
            </a:r>
            <a:endParaRPr sz="1100"/>
          </a:p>
        </p:txBody>
      </p:sp>
      <p:sp>
        <p:nvSpPr>
          <p:cNvPr id="606" name="Google Shape;606;p35"/>
          <p:cNvSpPr txBox="1"/>
          <p:nvPr/>
        </p:nvSpPr>
        <p:spPr>
          <a:xfrm>
            <a:off x="6176835" y="2591815"/>
            <a:ext cx="2229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4C84A"/>
                </a:solidFill>
                <a:latin typeface="Arial"/>
                <a:ea typeface="Arial"/>
                <a:cs typeface="Arial"/>
                <a:sym typeface="Arial"/>
              </a:rPr>
              <a:t>Documentación · Frontend · Integración</a:t>
            </a:r>
            <a:endParaRPr sz="1100"/>
          </a:p>
        </p:txBody>
      </p:sp>
      <p:sp>
        <p:nvSpPr>
          <p:cNvPr id="607" name="Google Shape;607;p35"/>
          <p:cNvSpPr txBox="1"/>
          <p:nvPr/>
        </p:nvSpPr>
        <p:spPr>
          <a:xfrm>
            <a:off x="6176835" y="2969004"/>
            <a:ext cx="2229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800" u="none" cap="none" strike="noStrike">
                <a:solidFill>
                  <a:srgbClr val="9BA5B4"/>
                </a:solidFill>
                <a:latin typeface="Arial"/>
                <a:ea typeface="Arial"/>
                <a:cs typeface="Arial"/>
                <a:sym typeface="Arial"/>
              </a:rPr>
              <a:t>Lidera documentación, metodología, navegación y estándar visual</a:t>
            </a:r>
            <a:endParaRPr sz="1100"/>
          </a:p>
        </p:txBody>
      </p:sp>
      <p:sp>
        <p:nvSpPr>
          <p:cNvPr id="608" name="Google Shape;608;p35"/>
          <p:cNvSpPr txBox="1"/>
          <p:nvPr/>
        </p:nvSpPr>
        <p:spPr>
          <a:xfrm>
            <a:off x="8401274" y="4855464"/>
            <a:ext cx="308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600" u="none" cap="none" strike="noStrike">
                <a:solidFill>
                  <a:srgbClr val="9BA5B4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6"/>
          <p:cNvSpPr/>
          <p:nvPr/>
        </p:nvSpPr>
        <p:spPr>
          <a:xfrm>
            <a:off x="0" y="0"/>
            <a:ext cx="9144000" cy="41100"/>
          </a:xfrm>
          <a:prstGeom prst="rect">
            <a:avLst/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6"/>
          <p:cNvSpPr txBox="1"/>
          <p:nvPr/>
        </p:nvSpPr>
        <p:spPr>
          <a:xfrm>
            <a:off x="514364" y="260604"/>
            <a:ext cx="3086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700" u="none" cap="none" strike="noStrike">
                <a:solidFill>
                  <a:srgbClr val="2FD1C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s" sz="700">
                <a:solidFill>
                  <a:srgbClr val="2FD1C1"/>
                </a:solidFill>
              </a:rPr>
              <a:t>9</a:t>
            </a:r>
            <a:r>
              <a:rPr b="1" i="0" lang="es" sz="700" u="none" cap="none" strike="noStrike">
                <a:solidFill>
                  <a:srgbClr val="2FD1C1"/>
                </a:solidFill>
                <a:latin typeface="Arial"/>
                <a:ea typeface="Arial"/>
                <a:cs typeface="Arial"/>
                <a:sym typeface="Arial"/>
              </a:rPr>
              <a:t> · OBJETIVOS</a:t>
            </a:r>
            <a:endParaRPr sz="1100"/>
          </a:p>
        </p:txBody>
      </p:sp>
      <p:sp>
        <p:nvSpPr>
          <p:cNvPr id="615" name="Google Shape;615;p36"/>
          <p:cNvSpPr txBox="1"/>
          <p:nvPr/>
        </p:nvSpPr>
        <p:spPr>
          <a:xfrm>
            <a:off x="534938" y="562356"/>
            <a:ext cx="7887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9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¿QUÉ QUEREMOS LOGRAR?</a:t>
            </a:r>
            <a:endParaRPr sz="1100"/>
          </a:p>
        </p:txBody>
      </p:sp>
      <p:sp>
        <p:nvSpPr>
          <p:cNvPr id="616" name="Google Shape;616;p36"/>
          <p:cNvSpPr txBox="1"/>
          <p:nvPr/>
        </p:nvSpPr>
        <p:spPr>
          <a:xfrm>
            <a:off x="534938" y="946404"/>
            <a:ext cx="788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2FD1C1"/>
                </a:solidFill>
                <a:latin typeface="Arial"/>
                <a:ea typeface="Arial"/>
                <a:cs typeface="Arial"/>
                <a:sym typeface="Arial"/>
              </a:rPr>
              <a:t>Un sistema ejecutable con interfaz web para evaluar, analizar y predecir reacciones de estrés.</a:t>
            </a:r>
            <a:endParaRPr sz="1100"/>
          </a:p>
        </p:txBody>
      </p:sp>
      <p:sp>
        <p:nvSpPr>
          <p:cNvPr id="617" name="Google Shape;617;p36"/>
          <p:cNvSpPr/>
          <p:nvPr/>
        </p:nvSpPr>
        <p:spPr>
          <a:xfrm>
            <a:off x="553038" y="1551275"/>
            <a:ext cx="8037900" cy="651600"/>
          </a:xfrm>
          <a:prstGeom prst="roundRect">
            <a:avLst>
              <a:gd fmla="val 16667" name="adj"/>
            </a:avLst>
          </a:prstGeom>
          <a:solidFill>
            <a:srgbClr val="123035"/>
          </a:solidFill>
          <a:ln cap="flat" cmpd="sng" w="7625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6"/>
          <p:cNvSpPr txBox="1"/>
          <p:nvPr/>
        </p:nvSpPr>
        <p:spPr>
          <a:xfrm>
            <a:off x="738209" y="1674719"/>
            <a:ext cx="1166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700" u="none" cap="none" strike="noStrike">
                <a:solidFill>
                  <a:srgbClr val="2FD1C1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sz="1100"/>
          </a:p>
        </p:txBody>
      </p:sp>
      <p:sp>
        <p:nvSpPr>
          <p:cNvPr id="619" name="Google Shape;619;p36"/>
          <p:cNvSpPr txBox="1"/>
          <p:nvPr/>
        </p:nvSpPr>
        <p:spPr>
          <a:xfrm>
            <a:off x="738209" y="1873601"/>
            <a:ext cx="750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Desarrollar un sistema ejecutable con interfaz web para evaluar, analizar y predecir las distintas reacciones de estrés de los estudiantes durante presentaciones orales.</a:t>
            </a:r>
            <a:endParaRPr sz="1100"/>
          </a:p>
        </p:txBody>
      </p:sp>
      <p:sp>
        <p:nvSpPr>
          <p:cNvPr id="620" name="Google Shape;620;p36"/>
          <p:cNvSpPr txBox="1"/>
          <p:nvPr/>
        </p:nvSpPr>
        <p:spPr>
          <a:xfrm>
            <a:off x="690202" y="2477105"/>
            <a:ext cx="30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700" u="none" cap="none" strike="noStrike">
                <a:solidFill>
                  <a:srgbClr val="5D5FE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621" name="Google Shape;621;p36"/>
          <p:cNvSpPr txBox="1"/>
          <p:nvPr/>
        </p:nvSpPr>
        <p:spPr>
          <a:xfrm>
            <a:off x="1081118" y="2456531"/>
            <a:ext cx="6995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Entrenar el modelo predictivo inicial con datos de prueba.</a:t>
            </a:r>
            <a:endParaRPr sz="1100"/>
          </a:p>
        </p:txBody>
      </p:sp>
      <p:sp>
        <p:nvSpPr>
          <p:cNvPr id="622" name="Google Shape;622;p36"/>
          <p:cNvSpPr txBox="1"/>
          <p:nvPr/>
        </p:nvSpPr>
        <p:spPr>
          <a:xfrm>
            <a:off x="690202" y="2970881"/>
            <a:ext cx="30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700" u="none" cap="none" strike="noStrike">
                <a:solidFill>
                  <a:srgbClr val="FF678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623" name="Google Shape;623;p36"/>
          <p:cNvSpPr txBox="1"/>
          <p:nvPr/>
        </p:nvSpPr>
        <p:spPr>
          <a:xfrm>
            <a:off x="1081118" y="2950307"/>
            <a:ext cx="6995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Construir la arquitectura del ejecutable con interfaz web.</a:t>
            </a:r>
            <a:endParaRPr sz="1100"/>
          </a:p>
        </p:txBody>
      </p:sp>
      <p:sp>
        <p:nvSpPr>
          <p:cNvPr id="624" name="Google Shape;624;p36"/>
          <p:cNvSpPr txBox="1"/>
          <p:nvPr/>
        </p:nvSpPr>
        <p:spPr>
          <a:xfrm>
            <a:off x="690202" y="3464657"/>
            <a:ext cx="30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700" u="none" cap="none" strike="noStrike">
                <a:solidFill>
                  <a:srgbClr val="F4C84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625" name="Google Shape;625;p36"/>
          <p:cNvSpPr txBox="1"/>
          <p:nvPr/>
        </p:nvSpPr>
        <p:spPr>
          <a:xfrm>
            <a:off x="1081118" y="3444083"/>
            <a:ext cx="6995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Implementar seguridad y autenticación para proteger rutas y privacidad.</a:t>
            </a:r>
            <a:endParaRPr sz="1100"/>
          </a:p>
        </p:txBody>
      </p:sp>
      <p:sp>
        <p:nvSpPr>
          <p:cNvPr id="626" name="Google Shape;626;p36"/>
          <p:cNvSpPr txBox="1"/>
          <p:nvPr/>
        </p:nvSpPr>
        <p:spPr>
          <a:xfrm>
            <a:off x="690202" y="3958433"/>
            <a:ext cx="30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700" u="none" cap="none" strike="noStrike">
                <a:solidFill>
                  <a:srgbClr val="2FD1C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  <p:sp>
        <p:nvSpPr>
          <p:cNvPr id="627" name="Google Shape;627;p36"/>
          <p:cNvSpPr txBox="1"/>
          <p:nvPr/>
        </p:nvSpPr>
        <p:spPr>
          <a:xfrm>
            <a:off x="1081118" y="3937859"/>
            <a:ext cx="6995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Integrar el modelo modificado y validar su precisión con datos escolares reales.</a:t>
            </a:r>
            <a:endParaRPr sz="1100"/>
          </a:p>
        </p:txBody>
      </p:sp>
      <p:sp>
        <p:nvSpPr>
          <p:cNvPr id="628" name="Google Shape;628;p36"/>
          <p:cNvSpPr txBox="1"/>
          <p:nvPr/>
        </p:nvSpPr>
        <p:spPr>
          <a:xfrm>
            <a:off x="8401274" y="4855464"/>
            <a:ext cx="308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600" u="none" cap="none" strike="noStrike">
                <a:solidFill>
                  <a:srgbClr val="9BA5B4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7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7"/>
          <p:cNvSpPr txBox="1"/>
          <p:nvPr/>
        </p:nvSpPr>
        <p:spPr>
          <a:xfrm>
            <a:off x="548655" y="425196"/>
            <a:ext cx="164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FB7185"/>
                </a:solidFill>
              </a:rPr>
              <a:t>10</a:t>
            </a:r>
            <a:r>
              <a:rPr b="1" i="0" lang="es" sz="800" u="none" cap="none" strike="noStrike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rPr>
              <a:t>  ·  </a:t>
            </a:r>
            <a:r>
              <a:rPr b="1" lang="es" sz="800">
                <a:solidFill>
                  <a:srgbClr val="FB7185"/>
                </a:solidFill>
              </a:rPr>
              <a:t>Arquitectura</a:t>
            </a:r>
            <a:endParaRPr sz="1100"/>
          </a:p>
        </p:txBody>
      </p:sp>
      <p:sp>
        <p:nvSpPr>
          <p:cNvPr id="635" name="Google Shape;635;p37"/>
          <p:cNvSpPr txBox="1"/>
          <p:nvPr/>
        </p:nvSpPr>
        <p:spPr>
          <a:xfrm>
            <a:off x="548655" y="720090"/>
            <a:ext cx="74067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ARQUITECTURA Y FLUJO DEL SISTEMA</a:t>
            </a:r>
            <a:endParaRPr b="1" sz="23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36" name="Google Shape;636;p37"/>
          <p:cNvSpPr/>
          <p:nvPr/>
        </p:nvSpPr>
        <p:spPr>
          <a:xfrm>
            <a:off x="400750" y="2594463"/>
            <a:ext cx="741600" cy="256200"/>
          </a:xfrm>
          <a:prstGeom prst="rect">
            <a:avLst/>
          </a:prstGeom>
          <a:solidFill>
            <a:srgbClr val="0B1220"/>
          </a:solidFill>
          <a:ln cap="flat" cmpd="sng" w="9525">
            <a:solidFill>
              <a:srgbClr val="F4C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37" name="Google Shape;637;p37"/>
          <p:cNvSpPr txBox="1"/>
          <p:nvPr/>
        </p:nvSpPr>
        <p:spPr>
          <a:xfrm>
            <a:off x="191200" y="2544788"/>
            <a:ext cx="11607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Usuarios</a:t>
            </a:r>
            <a:br>
              <a:rPr b="1" lang="es" sz="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lang="es" sz="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Administrador / Profesor</a:t>
            </a:r>
            <a:endParaRPr b="1" sz="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38" name="Google Shape;638;p37"/>
          <p:cNvSpPr/>
          <p:nvPr/>
        </p:nvSpPr>
        <p:spPr>
          <a:xfrm>
            <a:off x="1329575" y="1384825"/>
            <a:ext cx="2139300" cy="716700"/>
          </a:xfrm>
          <a:prstGeom prst="rect">
            <a:avLst/>
          </a:prstGeom>
          <a:noFill/>
          <a:ln cap="flat" cmpd="sng" w="19050">
            <a:solidFill>
              <a:srgbClr val="5D5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39" name="Google Shape;639;p37"/>
          <p:cNvSpPr txBox="1"/>
          <p:nvPr/>
        </p:nvSpPr>
        <p:spPr>
          <a:xfrm>
            <a:off x="1916200" y="1384825"/>
            <a:ext cx="1283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EXPERIENCIA / EVALUACIÓN</a:t>
            </a:r>
            <a:endParaRPr b="1" sz="5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40" name="Google Shape;640;p37"/>
          <p:cNvSpPr/>
          <p:nvPr/>
        </p:nvSpPr>
        <p:spPr>
          <a:xfrm>
            <a:off x="1430625" y="1606275"/>
            <a:ext cx="885900" cy="333600"/>
          </a:xfrm>
          <a:prstGeom prst="rect">
            <a:avLst/>
          </a:prstGeom>
          <a:noFill/>
          <a:ln cap="flat" cmpd="sng" w="9525">
            <a:solidFill>
              <a:srgbClr val="F4C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UNITY</a:t>
            </a:r>
            <a:endParaRPr b="1" sz="5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Experiencia interactiva y captura de datos</a:t>
            </a:r>
            <a:endParaRPr b="1" sz="5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41" name="Google Shape;641;p37"/>
          <p:cNvSpPr/>
          <p:nvPr/>
        </p:nvSpPr>
        <p:spPr>
          <a:xfrm>
            <a:off x="2511500" y="1606275"/>
            <a:ext cx="885900" cy="333600"/>
          </a:xfrm>
          <a:prstGeom prst="rect">
            <a:avLst/>
          </a:prstGeom>
          <a:noFill/>
          <a:ln cap="flat" cmpd="sng" w="9525">
            <a:solidFill>
              <a:srgbClr val="F4C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Datos de evaluación</a:t>
            </a:r>
            <a:endParaRPr b="1" sz="5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642" name="Google Shape;642;p37"/>
          <p:cNvCxnSpPr>
            <a:stCxn id="636" idx="0"/>
            <a:endCxn id="640" idx="1"/>
          </p:cNvCxnSpPr>
          <p:nvPr/>
        </p:nvCxnSpPr>
        <p:spPr>
          <a:xfrm rot="-5400000">
            <a:off x="690400" y="1854213"/>
            <a:ext cx="821400" cy="659100"/>
          </a:xfrm>
          <a:prstGeom prst="bentConnector2">
            <a:avLst/>
          </a:prstGeom>
          <a:noFill/>
          <a:ln cap="flat" cmpd="sng" w="9525">
            <a:solidFill>
              <a:srgbClr val="FB7185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3" name="Google Shape;643;p37"/>
          <p:cNvCxnSpPr>
            <a:stCxn id="640" idx="3"/>
            <a:endCxn id="641" idx="1"/>
          </p:cNvCxnSpPr>
          <p:nvPr/>
        </p:nvCxnSpPr>
        <p:spPr>
          <a:xfrm>
            <a:off x="2316525" y="1773075"/>
            <a:ext cx="195000" cy="0"/>
          </a:xfrm>
          <a:prstGeom prst="straightConnector1">
            <a:avLst/>
          </a:prstGeom>
          <a:noFill/>
          <a:ln cap="flat" cmpd="sng" w="9525">
            <a:solidFill>
              <a:srgbClr val="FB7185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44" name="Google Shape;644;p37"/>
          <p:cNvSpPr/>
          <p:nvPr/>
        </p:nvSpPr>
        <p:spPr>
          <a:xfrm>
            <a:off x="3765000" y="1613825"/>
            <a:ext cx="786000" cy="315600"/>
          </a:xfrm>
          <a:prstGeom prst="rect">
            <a:avLst/>
          </a:prstGeom>
          <a:noFill/>
          <a:ln cap="flat" cmpd="sng" w="9525">
            <a:solidFill>
              <a:srgbClr val="F4C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AWS</a:t>
            </a:r>
            <a:endParaRPr b="1" sz="5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Recepción</a:t>
            </a: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 / </a:t>
            </a: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Gestión</a:t>
            </a: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 de datos</a:t>
            </a:r>
            <a:endParaRPr b="1" sz="5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645" name="Google Shape;645;p37"/>
          <p:cNvCxnSpPr>
            <a:stCxn id="641" idx="3"/>
            <a:endCxn id="644" idx="1"/>
          </p:cNvCxnSpPr>
          <p:nvPr/>
        </p:nvCxnSpPr>
        <p:spPr>
          <a:xfrm flipH="1" rot="10800000">
            <a:off x="3397400" y="1771575"/>
            <a:ext cx="367500" cy="1500"/>
          </a:xfrm>
          <a:prstGeom prst="straightConnector1">
            <a:avLst/>
          </a:prstGeom>
          <a:noFill/>
          <a:ln cap="flat" cmpd="sng" w="9525">
            <a:solidFill>
              <a:srgbClr val="FB7185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46" name="Google Shape;646;p37"/>
          <p:cNvSpPr/>
          <p:nvPr/>
        </p:nvSpPr>
        <p:spPr>
          <a:xfrm>
            <a:off x="3800850" y="3596913"/>
            <a:ext cx="704400" cy="389700"/>
          </a:xfrm>
          <a:prstGeom prst="rect">
            <a:avLst/>
          </a:prstGeom>
          <a:noFill/>
          <a:ln cap="flat" cmpd="sng" w="9525">
            <a:solidFill>
              <a:srgbClr val="F4C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INTERFAZ WEB</a:t>
            </a:r>
            <a:b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React + Vite</a:t>
            </a:r>
            <a:b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Login / Gestión / Dashboard</a:t>
            </a:r>
            <a:endParaRPr b="1" sz="5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647" name="Google Shape;647;p37"/>
          <p:cNvCxnSpPr>
            <a:stCxn id="636" idx="2"/>
            <a:endCxn id="646" idx="1"/>
          </p:cNvCxnSpPr>
          <p:nvPr/>
        </p:nvCxnSpPr>
        <p:spPr>
          <a:xfrm flipH="1" rot="-5400000">
            <a:off x="1815700" y="1806513"/>
            <a:ext cx="941100" cy="3029400"/>
          </a:xfrm>
          <a:prstGeom prst="bentConnector2">
            <a:avLst/>
          </a:prstGeom>
          <a:noFill/>
          <a:ln cap="flat" cmpd="sng" w="9525">
            <a:solidFill>
              <a:srgbClr val="FB7185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48" name="Google Shape;648;p37"/>
          <p:cNvSpPr/>
          <p:nvPr/>
        </p:nvSpPr>
        <p:spPr>
          <a:xfrm>
            <a:off x="4750450" y="3247663"/>
            <a:ext cx="753300" cy="333600"/>
          </a:xfrm>
          <a:prstGeom prst="rect">
            <a:avLst/>
          </a:prstGeom>
          <a:noFill/>
          <a:ln cap="flat" cmpd="sng" w="9525">
            <a:solidFill>
              <a:srgbClr val="F4C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BACKEND / API</a:t>
            </a:r>
            <a:b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Node</a:t>
            </a:r>
            <a:r>
              <a:rPr b="1" lang="es" sz="500" u="sng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.js</a:t>
            </a:r>
            <a:endParaRPr b="1" sz="5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Lógica / Seguridad</a:t>
            </a:r>
            <a:endParaRPr b="1" sz="5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49" name="Google Shape;649;p37"/>
          <p:cNvSpPr/>
          <p:nvPr/>
        </p:nvSpPr>
        <p:spPr>
          <a:xfrm>
            <a:off x="5868200" y="2648738"/>
            <a:ext cx="635100" cy="261600"/>
          </a:xfrm>
          <a:prstGeom prst="rect">
            <a:avLst/>
          </a:prstGeom>
          <a:noFill/>
          <a:ln cap="flat" cmpd="sng" w="9525">
            <a:solidFill>
              <a:srgbClr val="F4C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SERVICIO IA</a:t>
            </a:r>
            <a:b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Flash Python</a:t>
            </a:r>
            <a:endParaRPr b="1" sz="5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50" name="Google Shape;650;p37"/>
          <p:cNvSpPr/>
          <p:nvPr/>
        </p:nvSpPr>
        <p:spPr>
          <a:xfrm>
            <a:off x="5868200" y="3100588"/>
            <a:ext cx="689100" cy="261600"/>
          </a:xfrm>
          <a:prstGeom prst="rect">
            <a:avLst/>
          </a:prstGeom>
          <a:noFill/>
          <a:ln cap="flat" cmpd="sng" w="9525">
            <a:solidFill>
              <a:srgbClr val="F4C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Firebase</a:t>
            </a:r>
            <a:b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Almacenamiento</a:t>
            </a:r>
            <a:endParaRPr b="1" sz="5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51" name="Google Shape;651;p37"/>
          <p:cNvSpPr/>
          <p:nvPr/>
        </p:nvSpPr>
        <p:spPr>
          <a:xfrm>
            <a:off x="5703100" y="3552438"/>
            <a:ext cx="969600" cy="261600"/>
          </a:xfrm>
          <a:prstGeom prst="rect">
            <a:avLst/>
          </a:prstGeom>
          <a:noFill/>
          <a:ln cap="flat" cmpd="sng" w="9525">
            <a:solidFill>
              <a:srgbClr val="F4C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DASHBOARD BIENESTAR</a:t>
            </a:r>
            <a:b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Visualización</a:t>
            </a:r>
            <a:endParaRPr b="1" sz="5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52" name="Google Shape;652;p37"/>
          <p:cNvSpPr/>
          <p:nvPr/>
        </p:nvSpPr>
        <p:spPr>
          <a:xfrm>
            <a:off x="6862125" y="2648738"/>
            <a:ext cx="947100" cy="261600"/>
          </a:xfrm>
          <a:prstGeom prst="rect">
            <a:avLst/>
          </a:prstGeom>
          <a:noFill/>
          <a:ln cap="flat" cmpd="sng" w="9525">
            <a:solidFill>
              <a:srgbClr val="F4C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MODELO IA</a:t>
            </a:r>
            <a:endParaRPr b="1" sz="5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Google Colab </a:t>
            </a:r>
            <a:endParaRPr b="1" sz="5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53" name="Google Shape;653;p37"/>
          <p:cNvSpPr/>
          <p:nvPr/>
        </p:nvSpPr>
        <p:spPr>
          <a:xfrm>
            <a:off x="8003925" y="3225863"/>
            <a:ext cx="885900" cy="261600"/>
          </a:xfrm>
          <a:prstGeom prst="rect">
            <a:avLst/>
          </a:prstGeom>
          <a:noFill/>
          <a:ln cap="flat" cmpd="sng" w="9525">
            <a:solidFill>
              <a:srgbClr val="F4C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RESULTADOS</a:t>
            </a:r>
            <a:b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lang="es" sz="5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Predicciones / Métricas</a:t>
            </a:r>
            <a:endParaRPr b="1" sz="5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654" name="Google Shape;654;p37"/>
          <p:cNvCxnSpPr>
            <a:stCxn id="644" idx="2"/>
            <a:endCxn id="648" idx="0"/>
          </p:cNvCxnSpPr>
          <p:nvPr/>
        </p:nvCxnSpPr>
        <p:spPr>
          <a:xfrm flipH="1" rot="-5400000">
            <a:off x="3983400" y="2104025"/>
            <a:ext cx="1318200" cy="9690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rgbClr val="FF6784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5" name="Google Shape;655;p37"/>
          <p:cNvCxnSpPr>
            <a:stCxn id="646" idx="3"/>
            <a:endCxn id="648" idx="2"/>
          </p:cNvCxnSpPr>
          <p:nvPr/>
        </p:nvCxnSpPr>
        <p:spPr>
          <a:xfrm flipH="1" rot="10800000">
            <a:off x="4505250" y="3581163"/>
            <a:ext cx="621900" cy="210600"/>
          </a:xfrm>
          <a:prstGeom prst="curvedConnector2">
            <a:avLst/>
          </a:prstGeom>
          <a:noFill/>
          <a:ln cap="flat" cmpd="sng" w="9525">
            <a:solidFill>
              <a:srgbClr val="FF6784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6" name="Google Shape;656;p37"/>
          <p:cNvCxnSpPr/>
          <p:nvPr/>
        </p:nvCxnSpPr>
        <p:spPr>
          <a:xfrm>
            <a:off x="5434000" y="3587063"/>
            <a:ext cx="258000" cy="105000"/>
          </a:xfrm>
          <a:prstGeom prst="curvedConnector3">
            <a:avLst>
              <a:gd fmla="val 22016" name="adj1"/>
            </a:avLst>
          </a:prstGeom>
          <a:noFill/>
          <a:ln cap="flat" cmpd="sng" w="9525">
            <a:solidFill>
              <a:srgbClr val="FF6784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7" name="Google Shape;657;p37"/>
          <p:cNvCxnSpPr>
            <a:endCxn id="649" idx="1"/>
          </p:cNvCxnSpPr>
          <p:nvPr/>
        </p:nvCxnSpPr>
        <p:spPr>
          <a:xfrm flipH="1" rot="10800000">
            <a:off x="5296100" y="2779538"/>
            <a:ext cx="572100" cy="46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6784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8" name="Google Shape;658;p37"/>
          <p:cNvCxnSpPr>
            <a:stCxn id="650" idx="1"/>
            <a:endCxn id="648" idx="3"/>
          </p:cNvCxnSpPr>
          <p:nvPr/>
        </p:nvCxnSpPr>
        <p:spPr>
          <a:xfrm flipH="1">
            <a:off x="5503700" y="3231388"/>
            <a:ext cx="364500" cy="183000"/>
          </a:xfrm>
          <a:prstGeom prst="curvedConnector3">
            <a:avLst>
              <a:gd fmla="val 49993" name="adj1"/>
            </a:avLst>
          </a:prstGeom>
          <a:noFill/>
          <a:ln cap="flat" cmpd="sng" w="9525">
            <a:solidFill>
              <a:srgbClr val="FF678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9" name="Google Shape;659;p37"/>
          <p:cNvCxnSpPr/>
          <p:nvPr/>
        </p:nvCxnSpPr>
        <p:spPr>
          <a:xfrm flipH="1" rot="10800000">
            <a:off x="5435800" y="3111088"/>
            <a:ext cx="424500" cy="127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6784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0" name="Google Shape;660;p37"/>
          <p:cNvCxnSpPr>
            <a:stCxn id="649" idx="3"/>
            <a:endCxn id="652" idx="1"/>
          </p:cNvCxnSpPr>
          <p:nvPr/>
        </p:nvCxnSpPr>
        <p:spPr>
          <a:xfrm>
            <a:off x="6503300" y="2779538"/>
            <a:ext cx="358800" cy="0"/>
          </a:xfrm>
          <a:prstGeom prst="straightConnector1">
            <a:avLst/>
          </a:prstGeom>
          <a:noFill/>
          <a:ln cap="flat" cmpd="sng" w="9525">
            <a:solidFill>
              <a:srgbClr val="FF6784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1" name="Google Shape;661;p37"/>
          <p:cNvCxnSpPr>
            <a:stCxn id="653" idx="2"/>
            <a:endCxn id="648" idx="2"/>
          </p:cNvCxnSpPr>
          <p:nvPr/>
        </p:nvCxnSpPr>
        <p:spPr>
          <a:xfrm rot="5400000">
            <a:off x="6740025" y="1874513"/>
            <a:ext cx="93900" cy="3319800"/>
          </a:xfrm>
          <a:prstGeom prst="curvedConnector3">
            <a:avLst>
              <a:gd fmla="val 699255" name="adj1"/>
            </a:avLst>
          </a:prstGeom>
          <a:noFill/>
          <a:ln cap="flat" cmpd="sng" w="9525">
            <a:solidFill>
              <a:srgbClr val="FF6784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2" name="Google Shape;662;p37"/>
          <p:cNvCxnSpPr>
            <a:endCxn id="653" idx="0"/>
          </p:cNvCxnSpPr>
          <p:nvPr/>
        </p:nvCxnSpPr>
        <p:spPr>
          <a:xfrm>
            <a:off x="7809075" y="2779463"/>
            <a:ext cx="637800" cy="446400"/>
          </a:xfrm>
          <a:prstGeom prst="curvedConnector2">
            <a:avLst/>
          </a:prstGeom>
          <a:noFill/>
          <a:ln cap="flat" cmpd="sng" w="9525">
            <a:solidFill>
              <a:srgbClr val="FF6784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63" name="Google Shape;663;p37"/>
          <p:cNvSpPr/>
          <p:nvPr/>
        </p:nvSpPr>
        <p:spPr>
          <a:xfrm>
            <a:off x="3592388" y="2255925"/>
            <a:ext cx="5360400" cy="2065200"/>
          </a:xfrm>
          <a:prstGeom prst="rect">
            <a:avLst/>
          </a:prstGeom>
          <a:noFill/>
          <a:ln cap="flat" cmpd="sng" w="19050">
            <a:solidFill>
              <a:srgbClr val="5D5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PLATAFORMA EMOTIONLAB</a:t>
            </a:r>
            <a:endParaRPr b="1" sz="6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64" name="Google Shape;664;p37"/>
          <p:cNvSpPr txBox="1"/>
          <p:nvPr/>
        </p:nvSpPr>
        <p:spPr>
          <a:xfrm>
            <a:off x="8401274" y="4855464"/>
            <a:ext cx="30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9BA5B4"/>
                </a:solidFill>
              </a:rPr>
              <a:t>9</a:t>
            </a:r>
            <a:endParaRPr b="1" sz="600">
              <a:solidFill>
                <a:srgbClr val="9BA5B4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9BA5B4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8"/>
          <p:cNvSpPr/>
          <p:nvPr/>
        </p:nvSpPr>
        <p:spPr>
          <a:xfrm>
            <a:off x="0" y="0"/>
            <a:ext cx="9144000" cy="41100"/>
          </a:xfrm>
          <a:prstGeom prst="rect">
            <a:avLst/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8"/>
          <p:cNvSpPr txBox="1"/>
          <p:nvPr/>
        </p:nvSpPr>
        <p:spPr>
          <a:xfrm>
            <a:off x="514364" y="260604"/>
            <a:ext cx="3086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2FD1C1"/>
                </a:solidFill>
              </a:rPr>
              <a:t>11</a:t>
            </a:r>
            <a:r>
              <a:rPr b="1" i="0" lang="es" sz="700" u="none" cap="none" strike="noStrike">
                <a:solidFill>
                  <a:srgbClr val="2FD1C1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b="1" lang="es" sz="700">
                <a:solidFill>
                  <a:srgbClr val="2FD1C1"/>
                </a:solidFill>
              </a:rPr>
              <a:t>IA</a:t>
            </a:r>
            <a:endParaRPr sz="1100"/>
          </a:p>
        </p:txBody>
      </p:sp>
      <p:sp>
        <p:nvSpPr>
          <p:cNvPr id="671" name="Google Shape;671;p38"/>
          <p:cNvSpPr txBox="1"/>
          <p:nvPr/>
        </p:nvSpPr>
        <p:spPr>
          <a:xfrm>
            <a:off x="534938" y="562356"/>
            <a:ext cx="7887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rgbClr val="F5F7FA"/>
                </a:solidFill>
              </a:rPr>
              <a:t>¿QUÉ BUSCAMOS CON LA IA?</a:t>
            </a:r>
            <a:endParaRPr sz="1100"/>
          </a:p>
        </p:txBody>
      </p:sp>
      <p:sp>
        <p:nvSpPr>
          <p:cNvPr id="672" name="Google Shape;672;p38"/>
          <p:cNvSpPr txBox="1"/>
          <p:nvPr/>
        </p:nvSpPr>
        <p:spPr>
          <a:xfrm>
            <a:off x="534938" y="946404"/>
            <a:ext cx="7887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2FD1C1"/>
                </a:solidFill>
              </a:rPr>
              <a:t>La IA busca complementar la evaluación mediante el análisis objetivo de los datos. </a:t>
            </a:r>
            <a:endParaRPr sz="1100"/>
          </a:p>
        </p:txBody>
      </p:sp>
      <p:sp>
        <p:nvSpPr>
          <p:cNvPr id="673" name="Google Shape;673;p38"/>
          <p:cNvSpPr/>
          <p:nvPr/>
        </p:nvSpPr>
        <p:spPr>
          <a:xfrm>
            <a:off x="388463" y="1954813"/>
            <a:ext cx="1886100" cy="825000"/>
          </a:xfrm>
          <a:prstGeom prst="roundRect">
            <a:avLst>
              <a:gd fmla="val 16667" name="adj"/>
            </a:avLst>
          </a:prstGeom>
          <a:solidFill>
            <a:srgbClr val="121B2D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8"/>
          <p:cNvSpPr txBox="1"/>
          <p:nvPr/>
        </p:nvSpPr>
        <p:spPr>
          <a:xfrm>
            <a:off x="511897" y="2181127"/>
            <a:ext cx="1632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DATOS ART</a:t>
            </a:r>
            <a:r>
              <a:rPr b="1" lang="es" sz="1300">
                <a:solidFill>
                  <a:srgbClr val="6366F1"/>
                </a:solidFill>
              </a:rPr>
              <a:t>IFICIALES</a:t>
            </a:r>
            <a:endParaRPr sz="1100"/>
          </a:p>
        </p:txBody>
      </p:sp>
      <p:sp>
        <p:nvSpPr>
          <p:cNvPr id="675" name="Google Shape;675;p38"/>
          <p:cNvSpPr txBox="1"/>
          <p:nvPr/>
        </p:nvSpPr>
        <p:spPr>
          <a:xfrm>
            <a:off x="525614" y="2572033"/>
            <a:ext cx="1611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76" name="Google Shape;676;p38"/>
          <p:cNvSpPr/>
          <p:nvPr/>
        </p:nvSpPr>
        <p:spPr>
          <a:xfrm>
            <a:off x="2548788" y="1954813"/>
            <a:ext cx="1886100" cy="855600"/>
          </a:xfrm>
          <a:prstGeom prst="roundRect">
            <a:avLst>
              <a:gd fmla="val 16667" name="adj"/>
            </a:avLst>
          </a:prstGeom>
          <a:solidFill>
            <a:srgbClr val="121B2D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8"/>
          <p:cNvSpPr txBox="1"/>
          <p:nvPr/>
        </p:nvSpPr>
        <p:spPr>
          <a:xfrm>
            <a:off x="2723587" y="2281177"/>
            <a:ext cx="16323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A78BFA"/>
                </a:solidFill>
              </a:rPr>
              <a:t>ENTRENAMIENTO</a:t>
            </a:r>
            <a:endParaRPr sz="1100"/>
          </a:p>
        </p:txBody>
      </p:sp>
      <p:sp>
        <p:nvSpPr>
          <p:cNvPr id="678" name="Google Shape;678;p38"/>
          <p:cNvSpPr/>
          <p:nvPr/>
        </p:nvSpPr>
        <p:spPr>
          <a:xfrm>
            <a:off x="4709113" y="1954813"/>
            <a:ext cx="1886100" cy="855600"/>
          </a:xfrm>
          <a:prstGeom prst="roundRect">
            <a:avLst>
              <a:gd fmla="val 16667" name="adj"/>
            </a:avLst>
          </a:prstGeom>
          <a:solidFill>
            <a:srgbClr val="121B2D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8"/>
          <p:cNvSpPr txBox="1"/>
          <p:nvPr/>
        </p:nvSpPr>
        <p:spPr>
          <a:xfrm>
            <a:off x="4883889" y="2281177"/>
            <a:ext cx="16323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2DD4BF"/>
                </a:solidFill>
              </a:rPr>
              <a:t>DATOS REALES</a:t>
            </a:r>
            <a:endParaRPr sz="1100"/>
          </a:p>
        </p:txBody>
      </p:sp>
      <p:sp>
        <p:nvSpPr>
          <p:cNvPr id="680" name="Google Shape;680;p38"/>
          <p:cNvSpPr/>
          <p:nvPr/>
        </p:nvSpPr>
        <p:spPr>
          <a:xfrm>
            <a:off x="6619225" y="2296637"/>
            <a:ext cx="226200" cy="238500"/>
          </a:xfrm>
          <a:prstGeom prst="chevron">
            <a:avLst>
              <a:gd fmla="val 50000" name="adj"/>
            </a:avLst>
          </a:prstGeom>
          <a:solidFill>
            <a:srgbClr val="94A3B8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8"/>
          <p:cNvSpPr/>
          <p:nvPr/>
        </p:nvSpPr>
        <p:spPr>
          <a:xfrm>
            <a:off x="6869438" y="1954813"/>
            <a:ext cx="1886100" cy="855600"/>
          </a:xfrm>
          <a:prstGeom prst="roundRect">
            <a:avLst>
              <a:gd fmla="val 16667" name="adj"/>
            </a:avLst>
          </a:prstGeom>
          <a:solidFill>
            <a:srgbClr val="121B2D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8"/>
          <p:cNvSpPr txBox="1"/>
          <p:nvPr/>
        </p:nvSpPr>
        <p:spPr>
          <a:xfrm>
            <a:off x="6948480" y="2181127"/>
            <a:ext cx="16323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6366F1"/>
                </a:solidFill>
              </a:rPr>
              <a:t>VALIDACIÓN</a:t>
            </a:r>
            <a:r>
              <a:rPr b="1" lang="es" sz="1300">
                <a:solidFill>
                  <a:srgbClr val="6366F1"/>
                </a:solidFill>
              </a:rPr>
              <a:t> Y MEJORA</a:t>
            </a:r>
            <a:endParaRPr sz="1100"/>
          </a:p>
        </p:txBody>
      </p:sp>
      <p:sp>
        <p:nvSpPr>
          <p:cNvPr id="683" name="Google Shape;683;p38"/>
          <p:cNvSpPr/>
          <p:nvPr/>
        </p:nvSpPr>
        <p:spPr>
          <a:xfrm>
            <a:off x="4458888" y="2296637"/>
            <a:ext cx="226200" cy="238500"/>
          </a:xfrm>
          <a:prstGeom prst="chevron">
            <a:avLst>
              <a:gd fmla="val 50000" name="adj"/>
            </a:avLst>
          </a:prstGeom>
          <a:solidFill>
            <a:srgbClr val="94A3B8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8"/>
          <p:cNvSpPr/>
          <p:nvPr/>
        </p:nvSpPr>
        <p:spPr>
          <a:xfrm>
            <a:off x="2298563" y="2296637"/>
            <a:ext cx="226200" cy="238500"/>
          </a:xfrm>
          <a:prstGeom prst="chevron">
            <a:avLst>
              <a:gd fmla="val 50000" name="adj"/>
            </a:avLst>
          </a:prstGeom>
          <a:solidFill>
            <a:srgbClr val="94A3B8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8"/>
          <p:cNvSpPr/>
          <p:nvPr/>
        </p:nvSpPr>
        <p:spPr>
          <a:xfrm>
            <a:off x="553026" y="3103913"/>
            <a:ext cx="8037900" cy="651600"/>
          </a:xfrm>
          <a:prstGeom prst="roundRect">
            <a:avLst>
              <a:gd fmla="val 16667" name="adj"/>
            </a:avLst>
          </a:prstGeom>
          <a:solidFill>
            <a:srgbClr val="123035"/>
          </a:solidFill>
          <a:ln cap="flat" cmpd="sng" w="7625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8"/>
          <p:cNvSpPr txBox="1"/>
          <p:nvPr/>
        </p:nvSpPr>
        <p:spPr>
          <a:xfrm>
            <a:off x="738197" y="3227357"/>
            <a:ext cx="1166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u="none" cap="none" strike="noStrike">
                <a:solidFill>
                  <a:srgbClr val="2FD1C1"/>
                </a:solidFill>
                <a:latin typeface="Arial"/>
                <a:ea typeface="Arial"/>
                <a:cs typeface="Arial"/>
                <a:sym typeface="Arial"/>
              </a:rPr>
              <a:t>OBJETIVO </a:t>
            </a:r>
            <a:endParaRPr/>
          </a:p>
        </p:txBody>
      </p:sp>
      <p:sp>
        <p:nvSpPr>
          <p:cNvPr id="687" name="Google Shape;687;p38"/>
          <p:cNvSpPr txBox="1"/>
          <p:nvPr/>
        </p:nvSpPr>
        <p:spPr>
          <a:xfrm>
            <a:off x="738197" y="3426239"/>
            <a:ext cx="750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5F7FA"/>
                </a:solidFill>
              </a:rPr>
              <a:t>Apoyar la evaluación mediante métricas objetivas y visuales. </a:t>
            </a:r>
            <a:endParaRPr/>
          </a:p>
        </p:txBody>
      </p:sp>
      <p:sp>
        <p:nvSpPr>
          <p:cNvPr id="688" name="Google Shape;688;p38"/>
          <p:cNvSpPr txBox="1"/>
          <p:nvPr/>
        </p:nvSpPr>
        <p:spPr>
          <a:xfrm>
            <a:off x="8401274" y="4855464"/>
            <a:ext cx="30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600" u="none" cap="none" strike="noStrike">
                <a:solidFill>
                  <a:srgbClr val="9BA5B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s" sz="600">
                <a:solidFill>
                  <a:srgbClr val="9BA5B4"/>
                </a:solidFill>
              </a:rPr>
              <a:t>0</a:t>
            </a:r>
            <a:endParaRPr b="1" sz="600">
              <a:solidFill>
                <a:srgbClr val="9BA5B4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9BA5B4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9"/>
          <p:cNvSpPr/>
          <p:nvPr/>
        </p:nvSpPr>
        <p:spPr>
          <a:xfrm>
            <a:off x="0" y="0"/>
            <a:ext cx="9144000" cy="41100"/>
          </a:xfrm>
          <a:prstGeom prst="rect">
            <a:avLst/>
          </a:prstGeom>
          <a:solidFill>
            <a:srgbClr val="5D5FE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9"/>
          <p:cNvSpPr txBox="1"/>
          <p:nvPr/>
        </p:nvSpPr>
        <p:spPr>
          <a:xfrm>
            <a:off x="514364" y="260604"/>
            <a:ext cx="3086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700" u="none" cap="none" strike="noStrike">
                <a:solidFill>
                  <a:srgbClr val="5D5FE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s" sz="700">
                <a:solidFill>
                  <a:srgbClr val="5D5FEF"/>
                </a:solidFill>
              </a:rPr>
              <a:t>2</a:t>
            </a:r>
            <a:r>
              <a:rPr b="1" i="0" lang="es" sz="700" u="none" cap="none" strike="noStrike">
                <a:solidFill>
                  <a:srgbClr val="5D5FEF"/>
                </a:solidFill>
                <a:latin typeface="Arial"/>
                <a:ea typeface="Arial"/>
                <a:cs typeface="Arial"/>
                <a:sym typeface="Arial"/>
              </a:rPr>
              <a:t> · CARTA GANTT</a:t>
            </a:r>
            <a:endParaRPr sz="1100"/>
          </a:p>
        </p:txBody>
      </p:sp>
      <p:sp>
        <p:nvSpPr>
          <p:cNvPr id="695" name="Google Shape;695;p39"/>
          <p:cNvSpPr txBox="1"/>
          <p:nvPr/>
        </p:nvSpPr>
        <p:spPr>
          <a:xfrm>
            <a:off x="534938" y="562356"/>
            <a:ext cx="7887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9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CARTA GANTT · PLANIFICACIÓN DEL PROYECTO</a:t>
            </a:r>
            <a:endParaRPr sz="1100"/>
          </a:p>
        </p:txBody>
      </p:sp>
      <p:sp>
        <p:nvSpPr>
          <p:cNvPr id="696" name="Google Shape;696;p39"/>
          <p:cNvSpPr txBox="1"/>
          <p:nvPr/>
        </p:nvSpPr>
        <p:spPr>
          <a:xfrm>
            <a:off x="534938" y="946404"/>
            <a:ext cx="7887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2FD1C1"/>
                </a:solidFill>
                <a:latin typeface="Arial"/>
                <a:ea typeface="Arial"/>
                <a:cs typeface="Arial"/>
                <a:sym typeface="Arial"/>
              </a:rPr>
              <a:t>Distribución según las semanas y duraciones</a:t>
            </a:r>
            <a:endParaRPr sz="1100"/>
          </a:p>
        </p:txBody>
      </p:sp>
      <p:sp>
        <p:nvSpPr>
          <p:cNvPr id="697" name="Google Shape;697;p39"/>
          <p:cNvSpPr/>
          <p:nvPr/>
        </p:nvSpPr>
        <p:spPr>
          <a:xfrm>
            <a:off x="534938" y="1275588"/>
            <a:ext cx="8037900" cy="329100"/>
          </a:xfrm>
          <a:prstGeom prst="roundRect">
            <a:avLst>
              <a:gd fmla="val 16667" name="adj"/>
            </a:avLst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9"/>
          <p:cNvSpPr txBox="1"/>
          <p:nvPr/>
        </p:nvSpPr>
        <p:spPr>
          <a:xfrm>
            <a:off x="685818" y="1364742"/>
            <a:ext cx="582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600" u="none" cap="none" strike="noStrike">
                <a:solidFill>
                  <a:srgbClr val="5D5FEF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endParaRPr sz="1100"/>
          </a:p>
        </p:txBody>
      </p:sp>
      <p:sp>
        <p:nvSpPr>
          <p:cNvPr id="699" name="Google Shape;699;p39"/>
          <p:cNvSpPr txBox="1"/>
          <p:nvPr/>
        </p:nvSpPr>
        <p:spPr>
          <a:xfrm>
            <a:off x="1248189" y="1364742"/>
            <a:ext cx="6858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6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Sem. 1–4</a:t>
            </a:r>
            <a:endParaRPr sz="1100"/>
          </a:p>
        </p:txBody>
      </p:sp>
      <p:sp>
        <p:nvSpPr>
          <p:cNvPr id="700" name="Google Shape;700;p39"/>
          <p:cNvSpPr txBox="1"/>
          <p:nvPr/>
        </p:nvSpPr>
        <p:spPr>
          <a:xfrm>
            <a:off x="2777564" y="1364742"/>
            <a:ext cx="582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600" u="none" cap="none" strike="noStrike">
                <a:solidFill>
                  <a:srgbClr val="2FD1C1"/>
                </a:solidFill>
                <a:latin typeface="Arial"/>
                <a:ea typeface="Arial"/>
                <a:cs typeface="Arial"/>
                <a:sym typeface="Arial"/>
              </a:rPr>
              <a:t>FASE 2</a:t>
            </a:r>
            <a:endParaRPr sz="1100"/>
          </a:p>
        </p:txBody>
      </p:sp>
      <p:sp>
        <p:nvSpPr>
          <p:cNvPr id="701" name="Google Shape;701;p39"/>
          <p:cNvSpPr txBox="1"/>
          <p:nvPr/>
        </p:nvSpPr>
        <p:spPr>
          <a:xfrm>
            <a:off x="3339935" y="1364742"/>
            <a:ext cx="171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6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Sem. 5–15 · 11 semanas</a:t>
            </a:r>
            <a:endParaRPr sz="1100"/>
          </a:p>
        </p:txBody>
      </p:sp>
      <p:sp>
        <p:nvSpPr>
          <p:cNvPr id="702" name="Google Shape;702;p39"/>
          <p:cNvSpPr txBox="1"/>
          <p:nvPr/>
        </p:nvSpPr>
        <p:spPr>
          <a:xfrm>
            <a:off x="5829455" y="1364742"/>
            <a:ext cx="582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600" u="none" cap="none" strike="noStrike">
                <a:solidFill>
                  <a:srgbClr val="FF6784"/>
                </a:solidFill>
                <a:latin typeface="Arial"/>
                <a:ea typeface="Arial"/>
                <a:cs typeface="Arial"/>
                <a:sym typeface="Arial"/>
              </a:rPr>
              <a:t>FASE 3</a:t>
            </a:r>
            <a:endParaRPr sz="1100"/>
          </a:p>
        </p:txBody>
      </p:sp>
      <p:sp>
        <p:nvSpPr>
          <p:cNvPr id="703" name="Google Shape;703;p39"/>
          <p:cNvSpPr txBox="1"/>
          <p:nvPr/>
        </p:nvSpPr>
        <p:spPr>
          <a:xfrm>
            <a:off x="6391826" y="1364742"/>
            <a:ext cx="1783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6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Sem. 16–18 · 3 semanas</a:t>
            </a:r>
            <a:endParaRPr sz="1100"/>
          </a:p>
        </p:txBody>
      </p:sp>
      <p:sp>
        <p:nvSpPr>
          <p:cNvPr id="704" name="Google Shape;704;p39"/>
          <p:cNvSpPr txBox="1"/>
          <p:nvPr/>
        </p:nvSpPr>
        <p:spPr>
          <a:xfrm>
            <a:off x="534938" y="1769364"/>
            <a:ext cx="1817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600" u="none" cap="none" strike="noStrike">
                <a:solidFill>
                  <a:srgbClr val="9BA5B4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100"/>
          </a:p>
        </p:txBody>
      </p:sp>
      <p:sp>
        <p:nvSpPr>
          <p:cNvPr id="705" name="Google Shape;705;p39"/>
          <p:cNvSpPr/>
          <p:nvPr/>
        </p:nvSpPr>
        <p:spPr>
          <a:xfrm>
            <a:off x="2455229" y="1741932"/>
            <a:ext cx="325800" cy="260700"/>
          </a:xfrm>
          <a:prstGeom prst="rect">
            <a:avLst/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9"/>
          <p:cNvSpPr txBox="1"/>
          <p:nvPr/>
        </p:nvSpPr>
        <p:spPr>
          <a:xfrm>
            <a:off x="2455229" y="1796796"/>
            <a:ext cx="3363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707" name="Google Shape;707;p39"/>
          <p:cNvSpPr/>
          <p:nvPr/>
        </p:nvSpPr>
        <p:spPr>
          <a:xfrm>
            <a:off x="2791280" y="1741932"/>
            <a:ext cx="325800" cy="260700"/>
          </a:xfrm>
          <a:prstGeom prst="rect">
            <a:avLst/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9"/>
          <p:cNvSpPr txBox="1"/>
          <p:nvPr/>
        </p:nvSpPr>
        <p:spPr>
          <a:xfrm>
            <a:off x="2791280" y="1796796"/>
            <a:ext cx="3363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709" name="Google Shape;709;p39"/>
          <p:cNvSpPr/>
          <p:nvPr/>
        </p:nvSpPr>
        <p:spPr>
          <a:xfrm>
            <a:off x="3127331" y="1741932"/>
            <a:ext cx="325800" cy="260700"/>
          </a:xfrm>
          <a:prstGeom prst="rect">
            <a:avLst/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9"/>
          <p:cNvSpPr txBox="1"/>
          <p:nvPr/>
        </p:nvSpPr>
        <p:spPr>
          <a:xfrm>
            <a:off x="3127331" y="1796796"/>
            <a:ext cx="3363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711" name="Google Shape;711;p39"/>
          <p:cNvSpPr/>
          <p:nvPr/>
        </p:nvSpPr>
        <p:spPr>
          <a:xfrm>
            <a:off x="3463382" y="1741932"/>
            <a:ext cx="325800" cy="260700"/>
          </a:xfrm>
          <a:prstGeom prst="rect">
            <a:avLst/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9"/>
          <p:cNvSpPr txBox="1"/>
          <p:nvPr/>
        </p:nvSpPr>
        <p:spPr>
          <a:xfrm>
            <a:off x="3463382" y="1796796"/>
            <a:ext cx="3363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713" name="Google Shape;713;p39"/>
          <p:cNvSpPr/>
          <p:nvPr/>
        </p:nvSpPr>
        <p:spPr>
          <a:xfrm>
            <a:off x="3799433" y="1741932"/>
            <a:ext cx="325800" cy="260700"/>
          </a:xfrm>
          <a:prstGeom prst="rect">
            <a:avLst/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9"/>
          <p:cNvSpPr txBox="1"/>
          <p:nvPr/>
        </p:nvSpPr>
        <p:spPr>
          <a:xfrm>
            <a:off x="3799433" y="1796796"/>
            <a:ext cx="3363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  <p:sp>
        <p:nvSpPr>
          <p:cNvPr id="715" name="Google Shape;715;p39"/>
          <p:cNvSpPr/>
          <p:nvPr/>
        </p:nvSpPr>
        <p:spPr>
          <a:xfrm>
            <a:off x="4135484" y="1741932"/>
            <a:ext cx="325800" cy="260700"/>
          </a:xfrm>
          <a:prstGeom prst="rect">
            <a:avLst/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9"/>
          <p:cNvSpPr txBox="1"/>
          <p:nvPr/>
        </p:nvSpPr>
        <p:spPr>
          <a:xfrm>
            <a:off x="4135484" y="1796796"/>
            <a:ext cx="3363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/>
          </a:p>
        </p:txBody>
      </p:sp>
      <p:sp>
        <p:nvSpPr>
          <p:cNvPr id="717" name="Google Shape;717;p39"/>
          <p:cNvSpPr/>
          <p:nvPr/>
        </p:nvSpPr>
        <p:spPr>
          <a:xfrm>
            <a:off x="4471535" y="1741932"/>
            <a:ext cx="325800" cy="260700"/>
          </a:xfrm>
          <a:prstGeom prst="rect">
            <a:avLst/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9"/>
          <p:cNvSpPr txBox="1"/>
          <p:nvPr/>
        </p:nvSpPr>
        <p:spPr>
          <a:xfrm>
            <a:off x="4471535" y="1796796"/>
            <a:ext cx="3363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/>
          </a:p>
        </p:txBody>
      </p:sp>
      <p:sp>
        <p:nvSpPr>
          <p:cNvPr id="719" name="Google Shape;719;p39"/>
          <p:cNvSpPr/>
          <p:nvPr/>
        </p:nvSpPr>
        <p:spPr>
          <a:xfrm>
            <a:off x="4807586" y="1741932"/>
            <a:ext cx="325800" cy="260700"/>
          </a:xfrm>
          <a:prstGeom prst="rect">
            <a:avLst/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9"/>
          <p:cNvSpPr txBox="1"/>
          <p:nvPr/>
        </p:nvSpPr>
        <p:spPr>
          <a:xfrm>
            <a:off x="4807586" y="1796796"/>
            <a:ext cx="3363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/>
          </a:p>
        </p:txBody>
      </p:sp>
      <p:sp>
        <p:nvSpPr>
          <p:cNvPr id="721" name="Google Shape;721;p39"/>
          <p:cNvSpPr/>
          <p:nvPr/>
        </p:nvSpPr>
        <p:spPr>
          <a:xfrm>
            <a:off x="5143637" y="1741932"/>
            <a:ext cx="325800" cy="260700"/>
          </a:xfrm>
          <a:prstGeom prst="rect">
            <a:avLst/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9"/>
          <p:cNvSpPr txBox="1"/>
          <p:nvPr/>
        </p:nvSpPr>
        <p:spPr>
          <a:xfrm>
            <a:off x="5143637" y="1796796"/>
            <a:ext cx="3363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100"/>
          </a:p>
        </p:txBody>
      </p:sp>
      <p:sp>
        <p:nvSpPr>
          <p:cNvPr id="723" name="Google Shape;723;p39"/>
          <p:cNvSpPr/>
          <p:nvPr/>
        </p:nvSpPr>
        <p:spPr>
          <a:xfrm>
            <a:off x="5479688" y="1741932"/>
            <a:ext cx="325800" cy="260700"/>
          </a:xfrm>
          <a:prstGeom prst="rect">
            <a:avLst/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9"/>
          <p:cNvSpPr txBox="1"/>
          <p:nvPr/>
        </p:nvSpPr>
        <p:spPr>
          <a:xfrm>
            <a:off x="5479688" y="1796796"/>
            <a:ext cx="3363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100"/>
          </a:p>
        </p:txBody>
      </p:sp>
      <p:sp>
        <p:nvSpPr>
          <p:cNvPr id="725" name="Google Shape;725;p39"/>
          <p:cNvSpPr/>
          <p:nvPr/>
        </p:nvSpPr>
        <p:spPr>
          <a:xfrm>
            <a:off x="5815739" y="1741932"/>
            <a:ext cx="325800" cy="260700"/>
          </a:xfrm>
          <a:prstGeom prst="rect">
            <a:avLst/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9"/>
          <p:cNvSpPr txBox="1"/>
          <p:nvPr/>
        </p:nvSpPr>
        <p:spPr>
          <a:xfrm>
            <a:off x="5815739" y="1796796"/>
            <a:ext cx="3363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100"/>
          </a:p>
        </p:txBody>
      </p:sp>
      <p:sp>
        <p:nvSpPr>
          <p:cNvPr id="727" name="Google Shape;727;p39"/>
          <p:cNvSpPr/>
          <p:nvPr/>
        </p:nvSpPr>
        <p:spPr>
          <a:xfrm>
            <a:off x="6151789" y="1741932"/>
            <a:ext cx="325800" cy="260700"/>
          </a:xfrm>
          <a:prstGeom prst="rect">
            <a:avLst/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9"/>
          <p:cNvSpPr txBox="1"/>
          <p:nvPr/>
        </p:nvSpPr>
        <p:spPr>
          <a:xfrm>
            <a:off x="6151789" y="1796796"/>
            <a:ext cx="3363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100"/>
          </a:p>
        </p:txBody>
      </p:sp>
      <p:sp>
        <p:nvSpPr>
          <p:cNvPr id="729" name="Google Shape;729;p39"/>
          <p:cNvSpPr/>
          <p:nvPr/>
        </p:nvSpPr>
        <p:spPr>
          <a:xfrm>
            <a:off x="6487841" y="1741932"/>
            <a:ext cx="325800" cy="260700"/>
          </a:xfrm>
          <a:prstGeom prst="rect">
            <a:avLst/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9"/>
          <p:cNvSpPr txBox="1"/>
          <p:nvPr/>
        </p:nvSpPr>
        <p:spPr>
          <a:xfrm>
            <a:off x="6487841" y="1796796"/>
            <a:ext cx="3363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100"/>
          </a:p>
        </p:txBody>
      </p:sp>
      <p:sp>
        <p:nvSpPr>
          <p:cNvPr id="731" name="Google Shape;731;p39"/>
          <p:cNvSpPr/>
          <p:nvPr/>
        </p:nvSpPr>
        <p:spPr>
          <a:xfrm>
            <a:off x="6823892" y="1741932"/>
            <a:ext cx="325800" cy="260700"/>
          </a:xfrm>
          <a:prstGeom prst="rect">
            <a:avLst/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9"/>
          <p:cNvSpPr txBox="1"/>
          <p:nvPr/>
        </p:nvSpPr>
        <p:spPr>
          <a:xfrm>
            <a:off x="6823892" y="1796796"/>
            <a:ext cx="3363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100"/>
          </a:p>
        </p:txBody>
      </p:sp>
      <p:sp>
        <p:nvSpPr>
          <p:cNvPr id="733" name="Google Shape;733;p39"/>
          <p:cNvSpPr/>
          <p:nvPr/>
        </p:nvSpPr>
        <p:spPr>
          <a:xfrm>
            <a:off x="7159943" y="1741932"/>
            <a:ext cx="325800" cy="260700"/>
          </a:xfrm>
          <a:prstGeom prst="rect">
            <a:avLst/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9"/>
          <p:cNvSpPr txBox="1"/>
          <p:nvPr/>
        </p:nvSpPr>
        <p:spPr>
          <a:xfrm>
            <a:off x="7159943" y="1796796"/>
            <a:ext cx="3363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100"/>
          </a:p>
        </p:txBody>
      </p:sp>
      <p:sp>
        <p:nvSpPr>
          <p:cNvPr id="735" name="Google Shape;735;p39"/>
          <p:cNvSpPr/>
          <p:nvPr/>
        </p:nvSpPr>
        <p:spPr>
          <a:xfrm>
            <a:off x="7495994" y="1741932"/>
            <a:ext cx="325800" cy="260700"/>
          </a:xfrm>
          <a:prstGeom prst="rect">
            <a:avLst/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9"/>
          <p:cNvSpPr txBox="1"/>
          <p:nvPr/>
        </p:nvSpPr>
        <p:spPr>
          <a:xfrm>
            <a:off x="7495994" y="1796796"/>
            <a:ext cx="3363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100"/>
          </a:p>
        </p:txBody>
      </p:sp>
      <p:sp>
        <p:nvSpPr>
          <p:cNvPr id="737" name="Google Shape;737;p39"/>
          <p:cNvSpPr/>
          <p:nvPr/>
        </p:nvSpPr>
        <p:spPr>
          <a:xfrm>
            <a:off x="7832045" y="1741932"/>
            <a:ext cx="325800" cy="260700"/>
          </a:xfrm>
          <a:prstGeom prst="rect">
            <a:avLst/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9"/>
          <p:cNvSpPr txBox="1"/>
          <p:nvPr/>
        </p:nvSpPr>
        <p:spPr>
          <a:xfrm>
            <a:off x="7832045" y="1796796"/>
            <a:ext cx="3363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1100"/>
          </a:p>
        </p:txBody>
      </p:sp>
      <p:sp>
        <p:nvSpPr>
          <p:cNvPr id="739" name="Google Shape;739;p39"/>
          <p:cNvSpPr/>
          <p:nvPr/>
        </p:nvSpPr>
        <p:spPr>
          <a:xfrm>
            <a:off x="8168096" y="1741932"/>
            <a:ext cx="325800" cy="260700"/>
          </a:xfrm>
          <a:prstGeom prst="rect">
            <a:avLst/>
          </a:prstGeom>
          <a:solidFill>
            <a:srgbClr val="121C2F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9"/>
          <p:cNvSpPr txBox="1"/>
          <p:nvPr/>
        </p:nvSpPr>
        <p:spPr>
          <a:xfrm>
            <a:off x="8168096" y="1796796"/>
            <a:ext cx="3363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100"/>
          </a:p>
        </p:txBody>
      </p:sp>
      <p:sp>
        <p:nvSpPr>
          <p:cNvPr id="741" name="Google Shape;741;p39"/>
          <p:cNvSpPr txBox="1"/>
          <p:nvPr/>
        </p:nvSpPr>
        <p:spPr>
          <a:xfrm>
            <a:off x="534938" y="2057400"/>
            <a:ext cx="18519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Definición de objetivos</a:t>
            </a:r>
            <a:endParaRPr sz="1100"/>
          </a:p>
        </p:txBody>
      </p:sp>
      <p:sp>
        <p:nvSpPr>
          <p:cNvPr id="742" name="Google Shape;742;p39"/>
          <p:cNvSpPr/>
          <p:nvPr/>
        </p:nvSpPr>
        <p:spPr>
          <a:xfrm>
            <a:off x="2455229" y="205740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9"/>
          <p:cNvSpPr/>
          <p:nvPr/>
        </p:nvSpPr>
        <p:spPr>
          <a:xfrm>
            <a:off x="2791280" y="205740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9"/>
          <p:cNvSpPr/>
          <p:nvPr/>
        </p:nvSpPr>
        <p:spPr>
          <a:xfrm>
            <a:off x="3127331" y="205740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9"/>
          <p:cNvSpPr/>
          <p:nvPr/>
        </p:nvSpPr>
        <p:spPr>
          <a:xfrm>
            <a:off x="3463382" y="205740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9"/>
          <p:cNvSpPr/>
          <p:nvPr/>
        </p:nvSpPr>
        <p:spPr>
          <a:xfrm>
            <a:off x="3799433" y="205740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9"/>
          <p:cNvSpPr/>
          <p:nvPr/>
        </p:nvSpPr>
        <p:spPr>
          <a:xfrm>
            <a:off x="4135484" y="205740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9"/>
          <p:cNvSpPr/>
          <p:nvPr/>
        </p:nvSpPr>
        <p:spPr>
          <a:xfrm>
            <a:off x="4471535" y="205740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9"/>
          <p:cNvSpPr/>
          <p:nvPr/>
        </p:nvSpPr>
        <p:spPr>
          <a:xfrm>
            <a:off x="4807586" y="205740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9"/>
          <p:cNvSpPr/>
          <p:nvPr/>
        </p:nvSpPr>
        <p:spPr>
          <a:xfrm>
            <a:off x="5143637" y="205740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9"/>
          <p:cNvSpPr/>
          <p:nvPr/>
        </p:nvSpPr>
        <p:spPr>
          <a:xfrm>
            <a:off x="5479688" y="205740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9"/>
          <p:cNvSpPr/>
          <p:nvPr/>
        </p:nvSpPr>
        <p:spPr>
          <a:xfrm>
            <a:off x="5815739" y="205740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9"/>
          <p:cNvSpPr/>
          <p:nvPr/>
        </p:nvSpPr>
        <p:spPr>
          <a:xfrm>
            <a:off x="6151789" y="205740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9"/>
          <p:cNvSpPr/>
          <p:nvPr/>
        </p:nvSpPr>
        <p:spPr>
          <a:xfrm>
            <a:off x="6487841" y="205740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9"/>
          <p:cNvSpPr/>
          <p:nvPr/>
        </p:nvSpPr>
        <p:spPr>
          <a:xfrm>
            <a:off x="6823892" y="205740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9"/>
          <p:cNvSpPr/>
          <p:nvPr/>
        </p:nvSpPr>
        <p:spPr>
          <a:xfrm>
            <a:off x="7159943" y="205740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9"/>
          <p:cNvSpPr/>
          <p:nvPr/>
        </p:nvSpPr>
        <p:spPr>
          <a:xfrm>
            <a:off x="7495994" y="205740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9"/>
          <p:cNvSpPr/>
          <p:nvPr/>
        </p:nvSpPr>
        <p:spPr>
          <a:xfrm>
            <a:off x="7832045" y="205740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9"/>
          <p:cNvSpPr/>
          <p:nvPr/>
        </p:nvSpPr>
        <p:spPr>
          <a:xfrm>
            <a:off x="8168096" y="205740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9"/>
          <p:cNvSpPr/>
          <p:nvPr/>
        </p:nvSpPr>
        <p:spPr>
          <a:xfrm>
            <a:off x="2479233" y="2081403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5D5FE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9"/>
          <p:cNvSpPr txBox="1"/>
          <p:nvPr/>
        </p:nvSpPr>
        <p:spPr>
          <a:xfrm>
            <a:off x="534938" y="2269998"/>
            <a:ext cx="18519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Definición de roles del equipo</a:t>
            </a:r>
            <a:endParaRPr sz="1100"/>
          </a:p>
        </p:txBody>
      </p:sp>
      <p:sp>
        <p:nvSpPr>
          <p:cNvPr id="762" name="Google Shape;762;p39"/>
          <p:cNvSpPr/>
          <p:nvPr/>
        </p:nvSpPr>
        <p:spPr>
          <a:xfrm>
            <a:off x="2455229" y="2269998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9"/>
          <p:cNvSpPr/>
          <p:nvPr/>
        </p:nvSpPr>
        <p:spPr>
          <a:xfrm>
            <a:off x="2791280" y="2269998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9"/>
          <p:cNvSpPr/>
          <p:nvPr/>
        </p:nvSpPr>
        <p:spPr>
          <a:xfrm>
            <a:off x="3127331" y="2269998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9"/>
          <p:cNvSpPr/>
          <p:nvPr/>
        </p:nvSpPr>
        <p:spPr>
          <a:xfrm>
            <a:off x="3463382" y="2269998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9"/>
          <p:cNvSpPr/>
          <p:nvPr/>
        </p:nvSpPr>
        <p:spPr>
          <a:xfrm>
            <a:off x="3799433" y="2269998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9"/>
          <p:cNvSpPr/>
          <p:nvPr/>
        </p:nvSpPr>
        <p:spPr>
          <a:xfrm>
            <a:off x="4135484" y="2269998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9"/>
          <p:cNvSpPr/>
          <p:nvPr/>
        </p:nvSpPr>
        <p:spPr>
          <a:xfrm>
            <a:off x="4471535" y="2269998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9"/>
          <p:cNvSpPr/>
          <p:nvPr/>
        </p:nvSpPr>
        <p:spPr>
          <a:xfrm>
            <a:off x="4807586" y="2269998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9"/>
          <p:cNvSpPr/>
          <p:nvPr/>
        </p:nvSpPr>
        <p:spPr>
          <a:xfrm>
            <a:off x="5143637" y="2269998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9"/>
          <p:cNvSpPr/>
          <p:nvPr/>
        </p:nvSpPr>
        <p:spPr>
          <a:xfrm>
            <a:off x="5479688" y="2269998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9"/>
          <p:cNvSpPr/>
          <p:nvPr/>
        </p:nvSpPr>
        <p:spPr>
          <a:xfrm>
            <a:off x="5815739" y="2269998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9"/>
          <p:cNvSpPr/>
          <p:nvPr/>
        </p:nvSpPr>
        <p:spPr>
          <a:xfrm>
            <a:off x="6151789" y="2269998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9"/>
          <p:cNvSpPr/>
          <p:nvPr/>
        </p:nvSpPr>
        <p:spPr>
          <a:xfrm>
            <a:off x="6487841" y="2269998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9"/>
          <p:cNvSpPr/>
          <p:nvPr/>
        </p:nvSpPr>
        <p:spPr>
          <a:xfrm>
            <a:off x="6823892" y="2269998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9"/>
          <p:cNvSpPr/>
          <p:nvPr/>
        </p:nvSpPr>
        <p:spPr>
          <a:xfrm>
            <a:off x="7159943" y="2269998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9"/>
          <p:cNvSpPr/>
          <p:nvPr/>
        </p:nvSpPr>
        <p:spPr>
          <a:xfrm>
            <a:off x="7495994" y="2269998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9"/>
          <p:cNvSpPr/>
          <p:nvPr/>
        </p:nvSpPr>
        <p:spPr>
          <a:xfrm>
            <a:off x="7832045" y="2269998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9"/>
          <p:cNvSpPr/>
          <p:nvPr/>
        </p:nvSpPr>
        <p:spPr>
          <a:xfrm>
            <a:off x="8168096" y="2269998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9"/>
          <p:cNvSpPr/>
          <p:nvPr/>
        </p:nvSpPr>
        <p:spPr>
          <a:xfrm>
            <a:off x="2815284" y="2294001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FF6784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9"/>
          <p:cNvSpPr txBox="1"/>
          <p:nvPr/>
        </p:nvSpPr>
        <p:spPr>
          <a:xfrm>
            <a:off x="534938" y="2482596"/>
            <a:ext cx="18519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Planificación y arquitectura</a:t>
            </a:r>
            <a:endParaRPr sz="1100"/>
          </a:p>
        </p:txBody>
      </p:sp>
      <p:sp>
        <p:nvSpPr>
          <p:cNvPr id="782" name="Google Shape;782;p39"/>
          <p:cNvSpPr/>
          <p:nvPr/>
        </p:nvSpPr>
        <p:spPr>
          <a:xfrm>
            <a:off x="2455229" y="2482596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9"/>
          <p:cNvSpPr/>
          <p:nvPr/>
        </p:nvSpPr>
        <p:spPr>
          <a:xfrm>
            <a:off x="2791280" y="2482596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9"/>
          <p:cNvSpPr/>
          <p:nvPr/>
        </p:nvSpPr>
        <p:spPr>
          <a:xfrm>
            <a:off x="3127331" y="2482596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9"/>
          <p:cNvSpPr/>
          <p:nvPr/>
        </p:nvSpPr>
        <p:spPr>
          <a:xfrm>
            <a:off x="3463382" y="2482596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9"/>
          <p:cNvSpPr/>
          <p:nvPr/>
        </p:nvSpPr>
        <p:spPr>
          <a:xfrm>
            <a:off x="3799433" y="2482596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9"/>
          <p:cNvSpPr/>
          <p:nvPr/>
        </p:nvSpPr>
        <p:spPr>
          <a:xfrm>
            <a:off x="4135484" y="2482596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9"/>
          <p:cNvSpPr/>
          <p:nvPr/>
        </p:nvSpPr>
        <p:spPr>
          <a:xfrm>
            <a:off x="4471535" y="2482596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9"/>
          <p:cNvSpPr/>
          <p:nvPr/>
        </p:nvSpPr>
        <p:spPr>
          <a:xfrm>
            <a:off x="4807586" y="2482596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9"/>
          <p:cNvSpPr/>
          <p:nvPr/>
        </p:nvSpPr>
        <p:spPr>
          <a:xfrm>
            <a:off x="5143637" y="2482596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9"/>
          <p:cNvSpPr/>
          <p:nvPr/>
        </p:nvSpPr>
        <p:spPr>
          <a:xfrm>
            <a:off x="5479688" y="2482596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9"/>
          <p:cNvSpPr/>
          <p:nvPr/>
        </p:nvSpPr>
        <p:spPr>
          <a:xfrm>
            <a:off x="5815739" y="2482596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9"/>
          <p:cNvSpPr/>
          <p:nvPr/>
        </p:nvSpPr>
        <p:spPr>
          <a:xfrm>
            <a:off x="6151789" y="2482596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9"/>
          <p:cNvSpPr/>
          <p:nvPr/>
        </p:nvSpPr>
        <p:spPr>
          <a:xfrm>
            <a:off x="6487841" y="2482596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9"/>
          <p:cNvSpPr/>
          <p:nvPr/>
        </p:nvSpPr>
        <p:spPr>
          <a:xfrm>
            <a:off x="6823892" y="2482596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9"/>
          <p:cNvSpPr/>
          <p:nvPr/>
        </p:nvSpPr>
        <p:spPr>
          <a:xfrm>
            <a:off x="7159943" y="2482596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9"/>
          <p:cNvSpPr/>
          <p:nvPr/>
        </p:nvSpPr>
        <p:spPr>
          <a:xfrm>
            <a:off x="7495994" y="2482596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9"/>
          <p:cNvSpPr/>
          <p:nvPr/>
        </p:nvSpPr>
        <p:spPr>
          <a:xfrm>
            <a:off x="7832045" y="2482596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9"/>
          <p:cNvSpPr/>
          <p:nvPr/>
        </p:nvSpPr>
        <p:spPr>
          <a:xfrm>
            <a:off x="8168096" y="2482596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9"/>
          <p:cNvSpPr/>
          <p:nvPr/>
        </p:nvSpPr>
        <p:spPr>
          <a:xfrm>
            <a:off x="3151335" y="2506599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9D7CF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9"/>
          <p:cNvSpPr/>
          <p:nvPr/>
        </p:nvSpPr>
        <p:spPr>
          <a:xfrm>
            <a:off x="3487386" y="2506599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9D7CF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9"/>
          <p:cNvSpPr txBox="1"/>
          <p:nvPr/>
        </p:nvSpPr>
        <p:spPr>
          <a:xfrm>
            <a:off x="534938" y="2695194"/>
            <a:ext cx="18519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Ceremonias ágiles</a:t>
            </a:r>
            <a:endParaRPr sz="1100"/>
          </a:p>
        </p:txBody>
      </p:sp>
      <p:sp>
        <p:nvSpPr>
          <p:cNvPr id="803" name="Google Shape;803;p39"/>
          <p:cNvSpPr/>
          <p:nvPr/>
        </p:nvSpPr>
        <p:spPr>
          <a:xfrm>
            <a:off x="2455229" y="2695194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9"/>
          <p:cNvSpPr/>
          <p:nvPr/>
        </p:nvSpPr>
        <p:spPr>
          <a:xfrm>
            <a:off x="2791280" y="2695194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9"/>
          <p:cNvSpPr/>
          <p:nvPr/>
        </p:nvSpPr>
        <p:spPr>
          <a:xfrm>
            <a:off x="3127331" y="2695194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9"/>
          <p:cNvSpPr/>
          <p:nvPr/>
        </p:nvSpPr>
        <p:spPr>
          <a:xfrm>
            <a:off x="3463382" y="2695194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9"/>
          <p:cNvSpPr/>
          <p:nvPr/>
        </p:nvSpPr>
        <p:spPr>
          <a:xfrm>
            <a:off x="3799433" y="2695194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9"/>
          <p:cNvSpPr/>
          <p:nvPr/>
        </p:nvSpPr>
        <p:spPr>
          <a:xfrm>
            <a:off x="4135484" y="2695194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9"/>
          <p:cNvSpPr/>
          <p:nvPr/>
        </p:nvSpPr>
        <p:spPr>
          <a:xfrm>
            <a:off x="4471535" y="2695194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9"/>
          <p:cNvSpPr/>
          <p:nvPr/>
        </p:nvSpPr>
        <p:spPr>
          <a:xfrm>
            <a:off x="4807586" y="2695194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9"/>
          <p:cNvSpPr/>
          <p:nvPr/>
        </p:nvSpPr>
        <p:spPr>
          <a:xfrm>
            <a:off x="5143637" y="2695194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9"/>
          <p:cNvSpPr/>
          <p:nvPr/>
        </p:nvSpPr>
        <p:spPr>
          <a:xfrm>
            <a:off x="5479688" y="2695194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9"/>
          <p:cNvSpPr/>
          <p:nvPr/>
        </p:nvSpPr>
        <p:spPr>
          <a:xfrm>
            <a:off x="5815739" y="2695194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9"/>
          <p:cNvSpPr/>
          <p:nvPr/>
        </p:nvSpPr>
        <p:spPr>
          <a:xfrm>
            <a:off x="6151789" y="2695194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9"/>
          <p:cNvSpPr/>
          <p:nvPr/>
        </p:nvSpPr>
        <p:spPr>
          <a:xfrm>
            <a:off x="6487841" y="2695194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9"/>
          <p:cNvSpPr/>
          <p:nvPr/>
        </p:nvSpPr>
        <p:spPr>
          <a:xfrm>
            <a:off x="6823892" y="2695194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9"/>
          <p:cNvSpPr/>
          <p:nvPr/>
        </p:nvSpPr>
        <p:spPr>
          <a:xfrm>
            <a:off x="7159943" y="2695194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9"/>
          <p:cNvSpPr/>
          <p:nvPr/>
        </p:nvSpPr>
        <p:spPr>
          <a:xfrm>
            <a:off x="7495994" y="2695194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9"/>
          <p:cNvSpPr/>
          <p:nvPr/>
        </p:nvSpPr>
        <p:spPr>
          <a:xfrm>
            <a:off x="7832045" y="2695194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9"/>
          <p:cNvSpPr/>
          <p:nvPr/>
        </p:nvSpPr>
        <p:spPr>
          <a:xfrm>
            <a:off x="8168096" y="2695194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9"/>
          <p:cNvSpPr/>
          <p:nvPr/>
        </p:nvSpPr>
        <p:spPr>
          <a:xfrm>
            <a:off x="3823437" y="2719197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9"/>
          <p:cNvSpPr/>
          <p:nvPr/>
        </p:nvSpPr>
        <p:spPr>
          <a:xfrm>
            <a:off x="4159488" y="2719197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9"/>
          <p:cNvSpPr/>
          <p:nvPr/>
        </p:nvSpPr>
        <p:spPr>
          <a:xfrm>
            <a:off x="4495539" y="2719197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9"/>
          <p:cNvSpPr/>
          <p:nvPr/>
        </p:nvSpPr>
        <p:spPr>
          <a:xfrm>
            <a:off x="4831590" y="2719197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9"/>
          <p:cNvSpPr/>
          <p:nvPr/>
        </p:nvSpPr>
        <p:spPr>
          <a:xfrm>
            <a:off x="5167641" y="2719197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9"/>
          <p:cNvSpPr/>
          <p:nvPr/>
        </p:nvSpPr>
        <p:spPr>
          <a:xfrm>
            <a:off x="5503692" y="2719197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9"/>
          <p:cNvSpPr/>
          <p:nvPr/>
        </p:nvSpPr>
        <p:spPr>
          <a:xfrm>
            <a:off x="5839743" y="2719197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9"/>
          <p:cNvSpPr/>
          <p:nvPr/>
        </p:nvSpPr>
        <p:spPr>
          <a:xfrm>
            <a:off x="6175793" y="2719197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9"/>
          <p:cNvSpPr/>
          <p:nvPr/>
        </p:nvSpPr>
        <p:spPr>
          <a:xfrm>
            <a:off x="6511845" y="2719197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9"/>
          <p:cNvSpPr/>
          <p:nvPr/>
        </p:nvSpPr>
        <p:spPr>
          <a:xfrm>
            <a:off x="6847896" y="2719197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9"/>
          <p:cNvSpPr/>
          <p:nvPr/>
        </p:nvSpPr>
        <p:spPr>
          <a:xfrm>
            <a:off x="7183947" y="2719197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9"/>
          <p:cNvSpPr txBox="1"/>
          <p:nvPr/>
        </p:nvSpPr>
        <p:spPr>
          <a:xfrm>
            <a:off x="534938" y="2907792"/>
            <a:ext cx="18519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Sprint 1 · Modelo predictivo inicial</a:t>
            </a:r>
            <a:endParaRPr sz="1100"/>
          </a:p>
        </p:txBody>
      </p:sp>
      <p:sp>
        <p:nvSpPr>
          <p:cNvPr id="833" name="Google Shape;833;p39"/>
          <p:cNvSpPr/>
          <p:nvPr/>
        </p:nvSpPr>
        <p:spPr>
          <a:xfrm>
            <a:off x="2455229" y="2907792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9"/>
          <p:cNvSpPr/>
          <p:nvPr/>
        </p:nvSpPr>
        <p:spPr>
          <a:xfrm>
            <a:off x="2791280" y="2907792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9"/>
          <p:cNvSpPr/>
          <p:nvPr/>
        </p:nvSpPr>
        <p:spPr>
          <a:xfrm>
            <a:off x="3127331" y="2907792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9"/>
          <p:cNvSpPr/>
          <p:nvPr/>
        </p:nvSpPr>
        <p:spPr>
          <a:xfrm>
            <a:off x="3463382" y="2907792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9"/>
          <p:cNvSpPr/>
          <p:nvPr/>
        </p:nvSpPr>
        <p:spPr>
          <a:xfrm>
            <a:off x="3799433" y="2907792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9"/>
          <p:cNvSpPr/>
          <p:nvPr/>
        </p:nvSpPr>
        <p:spPr>
          <a:xfrm>
            <a:off x="4135484" y="2907792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9"/>
          <p:cNvSpPr/>
          <p:nvPr/>
        </p:nvSpPr>
        <p:spPr>
          <a:xfrm>
            <a:off x="4471535" y="2907792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9"/>
          <p:cNvSpPr/>
          <p:nvPr/>
        </p:nvSpPr>
        <p:spPr>
          <a:xfrm>
            <a:off x="4807586" y="2907792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9"/>
          <p:cNvSpPr/>
          <p:nvPr/>
        </p:nvSpPr>
        <p:spPr>
          <a:xfrm>
            <a:off x="5143637" y="2907792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9"/>
          <p:cNvSpPr/>
          <p:nvPr/>
        </p:nvSpPr>
        <p:spPr>
          <a:xfrm>
            <a:off x="5479688" y="2907792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9"/>
          <p:cNvSpPr/>
          <p:nvPr/>
        </p:nvSpPr>
        <p:spPr>
          <a:xfrm>
            <a:off x="5815739" y="2907792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9"/>
          <p:cNvSpPr/>
          <p:nvPr/>
        </p:nvSpPr>
        <p:spPr>
          <a:xfrm>
            <a:off x="6151789" y="2907792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9"/>
          <p:cNvSpPr/>
          <p:nvPr/>
        </p:nvSpPr>
        <p:spPr>
          <a:xfrm>
            <a:off x="6487841" y="2907792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9"/>
          <p:cNvSpPr/>
          <p:nvPr/>
        </p:nvSpPr>
        <p:spPr>
          <a:xfrm>
            <a:off x="6823892" y="2907792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9"/>
          <p:cNvSpPr/>
          <p:nvPr/>
        </p:nvSpPr>
        <p:spPr>
          <a:xfrm>
            <a:off x="7159943" y="2907792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9"/>
          <p:cNvSpPr/>
          <p:nvPr/>
        </p:nvSpPr>
        <p:spPr>
          <a:xfrm>
            <a:off x="7495994" y="2907792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9"/>
          <p:cNvSpPr/>
          <p:nvPr/>
        </p:nvSpPr>
        <p:spPr>
          <a:xfrm>
            <a:off x="7832045" y="2907792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9"/>
          <p:cNvSpPr/>
          <p:nvPr/>
        </p:nvSpPr>
        <p:spPr>
          <a:xfrm>
            <a:off x="8168096" y="2907792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9"/>
          <p:cNvSpPr/>
          <p:nvPr/>
        </p:nvSpPr>
        <p:spPr>
          <a:xfrm>
            <a:off x="3823437" y="2931795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5D5FE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9"/>
          <p:cNvSpPr/>
          <p:nvPr/>
        </p:nvSpPr>
        <p:spPr>
          <a:xfrm>
            <a:off x="4159488" y="2931795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5D5FE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9"/>
          <p:cNvSpPr txBox="1"/>
          <p:nvPr/>
        </p:nvSpPr>
        <p:spPr>
          <a:xfrm>
            <a:off x="534938" y="3120390"/>
            <a:ext cx="18519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Creación de API de conexión</a:t>
            </a:r>
            <a:endParaRPr sz="1100"/>
          </a:p>
        </p:txBody>
      </p:sp>
      <p:sp>
        <p:nvSpPr>
          <p:cNvPr id="854" name="Google Shape;854;p39"/>
          <p:cNvSpPr/>
          <p:nvPr/>
        </p:nvSpPr>
        <p:spPr>
          <a:xfrm>
            <a:off x="2455229" y="312039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9"/>
          <p:cNvSpPr/>
          <p:nvPr/>
        </p:nvSpPr>
        <p:spPr>
          <a:xfrm>
            <a:off x="2791280" y="312039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9"/>
          <p:cNvSpPr/>
          <p:nvPr/>
        </p:nvSpPr>
        <p:spPr>
          <a:xfrm>
            <a:off x="3127331" y="312039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9"/>
          <p:cNvSpPr/>
          <p:nvPr/>
        </p:nvSpPr>
        <p:spPr>
          <a:xfrm>
            <a:off x="3463382" y="312039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9"/>
          <p:cNvSpPr/>
          <p:nvPr/>
        </p:nvSpPr>
        <p:spPr>
          <a:xfrm>
            <a:off x="3799433" y="312039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9"/>
          <p:cNvSpPr/>
          <p:nvPr/>
        </p:nvSpPr>
        <p:spPr>
          <a:xfrm>
            <a:off x="4135484" y="312039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9"/>
          <p:cNvSpPr/>
          <p:nvPr/>
        </p:nvSpPr>
        <p:spPr>
          <a:xfrm>
            <a:off x="4471535" y="312039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9"/>
          <p:cNvSpPr/>
          <p:nvPr/>
        </p:nvSpPr>
        <p:spPr>
          <a:xfrm>
            <a:off x="4807586" y="312039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9"/>
          <p:cNvSpPr/>
          <p:nvPr/>
        </p:nvSpPr>
        <p:spPr>
          <a:xfrm>
            <a:off x="5143637" y="312039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9"/>
          <p:cNvSpPr/>
          <p:nvPr/>
        </p:nvSpPr>
        <p:spPr>
          <a:xfrm>
            <a:off x="5479688" y="312039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9"/>
          <p:cNvSpPr/>
          <p:nvPr/>
        </p:nvSpPr>
        <p:spPr>
          <a:xfrm>
            <a:off x="5815739" y="312039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9"/>
          <p:cNvSpPr/>
          <p:nvPr/>
        </p:nvSpPr>
        <p:spPr>
          <a:xfrm>
            <a:off x="6151789" y="312039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9"/>
          <p:cNvSpPr/>
          <p:nvPr/>
        </p:nvSpPr>
        <p:spPr>
          <a:xfrm>
            <a:off x="6487841" y="312039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9"/>
          <p:cNvSpPr/>
          <p:nvPr/>
        </p:nvSpPr>
        <p:spPr>
          <a:xfrm>
            <a:off x="6823892" y="312039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9"/>
          <p:cNvSpPr/>
          <p:nvPr/>
        </p:nvSpPr>
        <p:spPr>
          <a:xfrm>
            <a:off x="7159943" y="312039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9"/>
          <p:cNvSpPr/>
          <p:nvPr/>
        </p:nvSpPr>
        <p:spPr>
          <a:xfrm>
            <a:off x="7495994" y="312039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9"/>
          <p:cNvSpPr/>
          <p:nvPr/>
        </p:nvSpPr>
        <p:spPr>
          <a:xfrm>
            <a:off x="7832045" y="312039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9"/>
          <p:cNvSpPr/>
          <p:nvPr/>
        </p:nvSpPr>
        <p:spPr>
          <a:xfrm>
            <a:off x="8168096" y="3120390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9"/>
          <p:cNvSpPr/>
          <p:nvPr/>
        </p:nvSpPr>
        <p:spPr>
          <a:xfrm>
            <a:off x="4495539" y="3144393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9D7CF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9"/>
          <p:cNvSpPr/>
          <p:nvPr/>
        </p:nvSpPr>
        <p:spPr>
          <a:xfrm>
            <a:off x="4831590" y="3144393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9D7CF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9"/>
          <p:cNvSpPr txBox="1"/>
          <p:nvPr/>
        </p:nvSpPr>
        <p:spPr>
          <a:xfrm>
            <a:off x="534938" y="3332987"/>
            <a:ext cx="18519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Sprint 2 · Interfaz web + analíticas</a:t>
            </a:r>
            <a:endParaRPr sz="1100"/>
          </a:p>
        </p:txBody>
      </p:sp>
      <p:sp>
        <p:nvSpPr>
          <p:cNvPr id="875" name="Google Shape;875;p39"/>
          <p:cNvSpPr/>
          <p:nvPr/>
        </p:nvSpPr>
        <p:spPr>
          <a:xfrm>
            <a:off x="2455229" y="333298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9"/>
          <p:cNvSpPr/>
          <p:nvPr/>
        </p:nvSpPr>
        <p:spPr>
          <a:xfrm>
            <a:off x="2791280" y="333298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9"/>
          <p:cNvSpPr/>
          <p:nvPr/>
        </p:nvSpPr>
        <p:spPr>
          <a:xfrm>
            <a:off x="3127331" y="333298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9"/>
          <p:cNvSpPr/>
          <p:nvPr/>
        </p:nvSpPr>
        <p:spPr>
          <a:xfrm>
            <a:off x="3463382" y="333298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9"/>
          <p:cNvSpPr/>
          <p:nvPr/>
        </p:nvSpPr>
        <p:spPr>
          <a:xfrm>
            <a:off x="3799433" y="333298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9"/>
          <p:cNvSpPr/>
          <p:nvPr/>
        </p:nvSpPr>
        <p:spPr>
          <a:xfrm>
            <a:off x="4135484" y="333298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9"/>
          <p:cNvSpPr/>
          <p:nvPr/>
        </p:nvSpPr>
        <p:spPr>
          <a:xfrm>
            <a:off x="4471535" y="333298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9"/>
          <p:cNvSpPr/>
          <p:nvPr/>
        </p:nvSpPr>
        <p:spPr>
          <a:xfrm>
            <a:off x="4807586" y="333298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9"/>
          <p:cNvSpPr/>
          <p:nvPr/>
        </p:nvSpPr>
        <p:spPr>
          <a:xfrm>
            <a:off x="5143637" y="333298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9"/>
          <p:cNvSpPr/>
          <p:nvPr/>
        </p:nvSpPr>
        <p:spPr>
          <a:xfrm>
            <a:off x="5479688" y="333298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9"/>
          <p:cNvSpPr/>
          <p:nvPr/>
        </p:nvSpPr>
        <p:spPr>
          <a:xfrm>
            <a:off x="5815739" y="333298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9"/>
          <p:cNvSpPr/>
          <p:nvPr/>
        </p:nvSpPr>
        <p:spPr>
          <a:xfrm>
            <a:off x="6151789" y="333298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9"/>
          <p:cNvSpPr/>
          <p:nvPr/>
        </p:nvSpPr>
        <p:spPr>
          <a:xfrm>
            <a:off x="6487841" y="333298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9"/>
          <p:cNvSpPr/>
          <p:nvPr/>
        </p:nvSpPr>
        <p:spPr>
          <a:xfrm>
            <a:off x="6823892" y="333298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9"/>
          <p:cNvSpPr/>
          <p:nvPr/>
        </p:nvSpPr>
        <p:spPr>
          <a:xfrm>
            <a:off x="7159943" y="333298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9"/>
          <p:cNvSpPr/>
          <p:nvPr/>
        </p:nvSpPr>
        <p:spPr>
          <a:xfrm>
            <a:off x="7495994" y="333298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9"/>
          <p:cNvSpPr/>
          <p:nvPr/>
        </p:nvSpPr>
        <p:spPr>
          <a:xfrm>
            <a:off x="7832045" y="333298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9"/>
          <p:cNvSpPr/>
          <p:nvPr/>
        </p:nvSpPr>
        <p:spPr>
          <a:xfrm>
            <a:off x="8168096" y="333298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9"/>
          <p:cNvSpPr/>
          <p:nvPr/>
        </p:nvSpPr>
        <p:spPr>
          <a:xfrm>
            <a:off x="5167641" y="3356991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FF6784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9"/>
          <p:cNvSpPr/>
          <p:nvPr/>
        </p:nvSpPr>
        <p:spPr>
          <a:xfrm>
            <a:off x="5503692" y="3356991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FF6784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9"/>
          <p:cNvSpPr txBox="1"/>
          <p:nvPr/>
        </p:nvSpPr>
        <p:spPr>
          <a:xfrm>
            <a:off x="534938" y="3545585"/>
            <a:ext cx="18519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Sprint 3 · Seguridad + autenticación</a:t>
            </a:r>
            <a:endParaRPr sz="1100"/>
          </a:p>
        </p:txBody>
      </p:sp>
      <p:sp>
        <p:nvSpPr>
          <p:cNvPr id="896" name="Google Shape;896;p39"/>
          <p:cNvSpPr/>
          <p:nvPr/>
        </p:nvSpPr>
        <p:spPr>
          <a:xfrm>
            <a:off x="2455229" y="3545585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9"/>
          <p:cNvSpPr/>
          <p:nvPr/>
        </p:nvSpPr>
        <p:spPr>
          <a:xfrm>
            <a:off x="2791280" y="3545585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9"/>
          <p:cNvSpPr/>
          <p:nvPr/>
        </p:nvSpPr>
        <p:spPr>
          <a:xfrm>
            <a:off x="3127331" y="3545585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9"/>
          <p:cNvSpPr/>
          <p:nvPr/>
        </p:nvSpPr>
        <p:spPr>
          <a:xfrm>
            <a:off x="3463382" y="3545585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9"/>
          <p:cNvSpPr/>
          <p:nvPr/>
        </p:nvSpPr>
        <p:spPr>
          <a:xfrm>
            <a:off x="3799433" y="3545585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9"/>
          <p:cNvSpPr/>
          <p:nvPr/>
        </p:nvSpPr>
        <p:spPr>
          <a:xfrm>
            <a:off x="4135484" y="3545585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9"/>
          <p:cNvSpPr/>
          <p:nvPr/>
        </p:nvSpPr>
        <p:spPr>
          <a:xfrm>
            <a:off x="4471535" y="3545585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9"/>
          <p:cNvSpPr/>
          <p:nvPr/>
        </p:nvSpPr>
        <p:spPr>
          <a:xfrm>
            <a:off x="4807586" y="3545585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9"/>
          <p:cNvSpPr/>
          <p:nvPr/>
        </p:nvSpPr>
        <p:spPr>
          <a:xfrm>
            <a:off x="5143637" y="3545585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9"/>
          <p:cNvSpPr/>
          <p:nvPr/>
        </p:nvSpPr>
        <p:spPr>
          <a:xfrm>
            <a:off x="5479688" y="3545585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9"/>
          <p:cNvSpPr/>
          <p:nvPr/>
        </p:nvSpPr>
        <p:spPr>
          <a:xfrm>
            <a:off x="5815739" y="3545585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9"/>
          <p:cNvSpPr/>
          <p:nvPr/>
        </p:nvSpPr>
        <p:spPr>
          <a:xfrm>
            <a:off x="6151789" y="3545585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9"/>
          <p:cNvSpPr/>
          <p:nvPr/>
        </p:nvSpPr>
        <p:spPr>
          <a:xfrm>
            <a:off x="6487841" y="3545585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9"/>
          <p:cNvSpPr/>
          <p:nvPr/>
        </p:nvSpPr>
        <p:spPr>
          <a:xfrm>
            <a:off x="6823892" y="3545585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9"/>
          <p:cNvSpPr/>
          <p:nvPr/>
        </p:nvSpPr>
        <p:spPr>
          <a:xfrm>
            <a:off x="7159943" y="3545585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9"/>
          <p:cNvSpPr/>
          <p:nvPr/>
        </p:nvSpPr>
        <p:spPr>
          <a:xfrm>
            <a:off x="7495994" y="3545585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9"/>
          <p:cNvSpPr/>
          <p:nvPr/>
        </p:nvSpPr>
        <p:spPr>
          <a:xfrm>
            <a:off x="7832045" y="3545585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9"/>
          <p:cNvSpPr/>
          <p:nvPr/>
        </p:nvSpPr>
        <p:spPr>
          <a:xfrm>
            <a:off x="8168096" y="3545585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9"/>
          <p:cNvSpPr/>
          <p:nvPr/>
        </p:nvSpPr>
        <p:spPr>
          <a:xfrm>
            <a:off x="5839743" y="3569588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F4C84A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9"/>
          <p:cNvSpPr/>
          <p:nvPr/>
        </p:nvSpPr>
        <p:spPr>
          <a:xfrm>
            <a:off x="6175793" y="3569588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F4C84A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9"/>
          <p:cNvSpPr txBox="1"/>
          <p:nvPr/>
        </p:nvSpPr>
        <p:spPr>
          <a:xfrm>
            <a:off x="534938" y="3758183"/>
            <a:ext cx="18519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Sprint 4 · Integración del modelo</a:t>
            </a:r>
            <a:endParaRPr sz="1100"/>
          </a:p>
        </p:txBody>
      </p:sp>
      <p:sp>
        <p:nvSpPr>
          <p:cNvPr id="917" name="Google Shape;917;p39"/>
          <p:cNvSpPr/>
          <p:nvPr/>
        </p:nvSpPr>
        <p:spPr>
          <a:xfrm>
            <a:off x="2455229" y="3758183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9"/>
          <p:cNvSpPr/>
          <p:nvPr/>
        </p:nvSpPr>
        <p:spPr>
          <a:xfrm>
            <a:off x="2791280" y="3758183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9"/>
          <p:cNvSpPr/>
          <p:nvPr/>
        </p:nvSpPr>
        <p:spPr>
          <a:xfrm>
            <a:off x="3127331" y="3758183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9"/>
          <p:cNvSpPr/>
          <p:nvPr/>
        </p:nvSpPr>
        <p:spPr>
          <a:xfrm>
            <a:off x="3463382" y="3758183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9"/>
          <p:cNvSpPr/>
          <p:nvPr/>
        </p:nvSpPr>
        <p:spPr>
          <a:xfrm>
            <a:off x="3799433" y="3758183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9"/>
          <p:cNvSpPr/>
          <p:nvPr/>
        </p:nvSpPr>
        <p:spPr>
          <a:xfrm>
            <a:off x="4135484" y="3758183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9"/>
          <p:cNvSpPr/>
          <p:nvPr/>
        </p:nvSpPr>
        <p:spPr>
          <a:xfrm>
            <a:off x="4471535" y="3758183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9"/>
          <p:cNvSpPr/>
          <p:nvPr/>
        </p:nvSpPr>
        <p:spPr>
          <a:xfrm>
            <a:off x="4807586" y="3758183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9"/>
          <p:cNvSpPr/>
          <p:nvPr/>
        </p:nvSpPr>
        <p:spPr>
          <a:xfrm>
            <a:off x="5143637" y="3758183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9"/>
          <p:cNvSpPr/>
          <p:nvPr/>
        </p:nvSpPr>
        <p:spPr>
          <a:xfrm>
            <a:off x="5479688" y="3758183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9"/>
          <p:cNvSpPr/>
          <p:nvPr/>
        </p:nvSpPr>
        <p:spPr>
          <a:xfrm>
            <a:off x="5815739" y="3758183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9"/>
          <p:cNvSpPr/>
          <p:nvPr/>
        </p:nvSpPr>
        <p:spPr>
          <a:xfrm>
            <a:off x="6151789" y="3758183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9"/>
          <p:cNvSpPr/>
          <p:nvPr/>
        </p:nvSpPr>
        <p:spPr>
          <a:xfrm>
            <a:off x="6487841" y="3758183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9"/>
          <p:cNvSpPr/>
          <p:nvPr/>
        </p:nvSpPr>
        <p:spPr>
          <a:xfrm>
            <a:off x="6823892" y="3758183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9"/>
          <p:cNvSpPr/>
          <p:nvPr/>
        </p:nvSpPr>
        <p:spPr>
          <a:xfrm>
            <a:off x="7159943" y="3758183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9"/>
          <p:cNvSpPr/>
          <p:nvPr/>
        </p:nvSpPr>
        <p:spPr>
          <a:xfrm>
            <a:off x="7495994" y="3758183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9"/>
          <p:cNvSpPr/>
          <p:nvPr/>
        </p:nvSpPr>
        <p:spPr>
          <a:xfrm>
            <a:off x="7832045" y="3758183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9"/>
          <p:cNvSpPr/>
          <p:nvPr/>
        </p:nvSpPr>
        <p:spPr>
          <a:xfrm>
            <a:off x="8168096" y="3758183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9"/>
          <p:cNvSpPr/>
          <p:nvPr/>
        </p:nvSpPr>
        <p:spPr>
          <a:xfrm>
            <a:off x="6511845" y="3782186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9"/>
          <p:cNvSpPr txBox="1"/>
          <p:nvPr/>
        </p:nvSpPr>
        <p:spPr>
          <a:xfrm>
            <a:off x="534938" y="3970781"/>
            <a:ext cx="18519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Datos reales + usabilidad</a:t>
            </a:r>
            <a:endParaRPr sz="1100"/>
          </a:p>
        </p:txBody>
      </p:sp>
      <p:sp>
        <p:nvSpPr>
          <p:cNvPr id="937" name="Google Shape;937;p39"/>
          <p:cNvSpPr/>
          <p:nvPr/>
        </p:nvSpPr>
        <p:spPr>
          <a:xfrm>
            <a:off x="2455229" y="3970781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9"/>
          <p:cNvSpPr/>
          <p:nvPr/>
        </p:nvSpPr>
        <p:spPr>
          <a:xfrm>
            <a:off x="2791280" y="3970781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9"/>
          <p:cNvSpPr/>
          <p:nvPr/>
        </p:nvSpPr>
        <p:spPr>
          <a:xfrm>
            <a:off x="3127331" y="3970781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9"/>
          <p:cNvSpPr/>
          <p:nvPr/>
        </p:nvSpPr>
        <p:spPr>
          <a:xfrm>
            <a:off x="3463382" y="3970781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9"/>
          <p:cNvSpPr/>
          <p:nvPr/>
        </p:nvSpPr>
        <p:spPr>
          <a:xfrm>
            <a:off x="3799433" y="3970781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9"/>
          <p:cNvSpPr/>
          <p:nvPr/>
        </p:nvSpPr>
        <p:spPr>
          <a:xfrm>
            <a:off x="4135484" y="3970781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9"/>
          <p:cNvSpPr/>
          <p:nvPr/>
        </p:nvSpPr>
        <p:spPr>
          <a:xfrm>
            <a:off x="4471535" y="3970781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9"/>
          <p:cNvSpPr/>
          <p:nvPr/>
        </p:nvSpPr>
        <p:spPr>
          <a:xfrm>
            <a:off x="4807586" y="3970781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9"/>
          <p:cNvSpPr/>
          <p:nvPr/>
        </p:nvSpPr>
        <p:spPr>
          <a:xfrm>
            <a:off x="5143637" y="3970781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9"/>
          <p:cNvSpPr/>
          <p:nvPr/>
        </p:nvSpPr>
        <p:spPr>
          <a:xfrm>
            <a:off x="5479688" y="3970781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9"/>
          <p:cNvSpPr/>
          <p:nvPr/>
        </p:nvSpPr>
        <p:spPr>
          <a:xfrm>
            <a:off x="5815739" y="3970781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9"/>
          <p:cNvSpPr/>
          <p:nvPr/>
        </p:nvSpPr>
        <p:spPr>
          <a:xfrm>
            <a:off x="6151789" y="3970781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9"/>
          <p:cNvSpPr/>
          <p:nvPr/>
        </p:nvSpPr>
        <p:spPr>
          <a:xfrm>
            <a:off x="6487841" y="3970781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9"/>
          <p:cNvSpPr/>
          <p:nvPr/>
        </p:nvSpPr>
        <p:spPr>
          <a:xfrm>
            <a:off x="6823892" y="3970781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39"/>
          <p:cNvSpPr/>
          <p:nvPr/>
        </p:nvSpPr>
        <p:spPr>
          <a:xfrm>
            <a:off x="7159943" y="3970781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9"/>
          <p:cNvSpPr/>
          <p:nvPr/>
        </p:nvSpPr>
        <p:spPr>
          <a:xfrm>
            <a:off x="7495994" y="3970781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9"/>
          <p:cNvSpPr/>
          <p:nvPr/>
        </p:nvSpPr>
        <p:spPr>
          <a:xfrm>
            <a:off x="7832045" y="3970781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9"/>
          <p:cNvSpPr/>
          <p:nvPr/>
        </p:nvSpPr>
        <p:spPr>
          <a:xfrm>
            <a:off x="8168096" y="3970781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9"/>
          <p:cNvSpPr/>
          <p:nvPr/>
        </p:nvSpPr>
        <p:spPr>
          <a:xfrm>
            <a:off x="6847896" y="3994784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FF6784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9"/>
          <p:cNvSpPr txBox="1"/>
          <p:nvPr/>
        </p:nvSpPr>
        <p:spPr>
          <a:xfrm>
            <a:off x="534938" y="4183379"/>
            <a:ext cx="18519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Pruebas + documentación</a:t>
            </a:r>
            <a:endParaRPr sz="1100"/>
          </a:p>
        </p:txBody>
      </p:sp>
      <p:sp>
        <p:nvSpPr>
          <p:cNvPr id="957" name="Google Shape;957;p39"/>
          <p:cNvSpPr/>
          <p:nvPr/>
        </p:nvSpPr>
        <p:spPr>
          <a:xfrm>
            <a:off x="2455229" y="4183379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9"/>
          <p:cNvSpPr/>
          <p:nvPr/>
        </p:nvSpPr>
        <p:spPr>
          <a:xfrm>
            <a:off x="2791280" y="4183379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9"/>
          <p:cNvSpPr/>
          <p:nvPr/>
        </p:nvSpPr>
        <p:spPr>
          <a:xfrm>
            <a:off x="3127331" y="4183379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9"/>
          <p:cNvSpPr/>
          <p:nvPr/>
        </p:nvSpPr>
        <p:spPr>
          <a:xfrm>
            <a:off x="3463382" y="4183379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9"/>
          <p:cNvSpPr/>
          <p:nvPr/>
        </p:nvSpPr>
        <p:spPr>
          <a:xfrm>
            <a:off x="3799433" y="4183379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9"/>
          <p:cNvSpPr/>
          <p:nvPr/>
        </p:nvSpPr>
        <p:spPr>
          <a:xfrm>
            <a:off x="4135484" y="4183379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9"/>
          <p:cNvSpPr/>
          <p:nvPr/>
        </p:nvSpPr>
        <p:spPr>
          <a:xfrm>
            <a:off x="4471535" y="4183379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9"/>
          <p:cNvSpPr/>
          <p:nvPr/>
        </p:nvSpPr>
        <p:spPr>
          <a:xfrm>
            <a:off x="4807586" y="4183379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9"/>
          <p:cNvSpPr/>
          <p:nvPr/>
        </p:nvSpPr>
        <p:spPr>
          <a:xfrm>
            <a:off x="5143637" y="4183379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9"/>
          <p:cNvSpPr/>
          <p:nvPr/>
        </p:nvSpPr>
        <p:spPr>
          <a:xfrm>
            <a:off x="5479688" y="4183379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9"/>
          <p:cNvSpPr/>
          <p:nvPr/>
        </p:nvSpPr>
        <p:spPr>
          <a:xfrm>
            <a:off x="5815739" y="4183379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9"/>
          <p:cNvSpPr/>
          <p:nvPr/>
        </p:nvSpPr>
        <p:spPr>
          <a:xfrm>
            <a:off x="6151789" y="4183379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9"/>
          <p:cNvSpPr/>
          <p:nvPr/>
        </p:nvSpPr>
        <p:spPr>
          <a:xfrm>
            <a:off x="6487841" y="4183379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9"/>
          <p:cNvSpPr/>
          <p:nvPr/>
        </p:nvSpPr>
        <p:spPr>
          <a:xfrm>
            <a:off x="6823892" y="4183379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9"/>
          <p:cNvSpPr/>
          <p:nvPr/>
        </p:nvSpPr>
        <p:spPr>
          <a:xfrm>
            <a:off x="7159943" y="4183379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9"/>
          <p:cNvSpPr/>
          <p:nvPr/>
        </p:nvSpPr>
        <p:spPr>
          <a:xfrm>
            <a:off x="7495994" y="4183379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9"/>
          <p:cNvSpPr/>
          <p:nvPr/>
        </p:nvSpPr>
        <p:spPr>
          <a:xfrm>
            <a:off x="7832045" y="4183379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9"/>
          <p:cNvSpPr/>
          <p:nvPr/>
        </p:nvSpPr>
        <p:spPr>
          <a:xfrm>
            <a:off x="8168096" y="4183379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9"/>
          <p:cNvSpPr/>
          <p:nvPr/>
        </p:nvSpPr>
        <p:spPr>
          <a:xfrm>
            <a:off x="7183947" y="4207382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9D7CF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9"/>
          <p:cNvSpPr txBox="1"/>
          <p:nvPr/>
        </p:nvSpPr>
        <p:spPr>
          <a:xfrm>
            <a:off x="534938" y="4395977"/>
            <a:ext cx="18519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Defensa del proyecto</a:t>
            </a:r>
            <a:endParaRPr sz="1100"/>
          </a:p>
        </p:txBody>
      </p:sp>
      <p:sp>
        <p:nvSpPr>
          <p:cNvPr id="977" name="Google Shape;977;p39"/>
          <p:cNvSpPr/>
          <p:nvPr/>
        </p:nvSpPr>
        <p:spPr>
          <a:xfrm>
            <a:off x="2455229" y="439597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9"/>
          <p:cNvSpPr/>
          <p:nvPr/>
        </p:nvSpPr>
        <p:spPr>
          <a:xfrm>
            <a:off x="2791280" y="439597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9"/>
          <p:cNvSpPr/>
          <p:nvPr/>
        </p:nvSpPr>
        <p:spPr>
          <a:xfrm>
            <a:off x="3127331" y="439597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9"/>
          <p:cNvSpPr/>
          <p:nvPr/>
        </p:nvSpPr>
        <p:spPr>
          <a:xfrm>
            <a:off x="3463382" y="439597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39"/>
          <p:cNvSpPr/>
          <p:nvPr/>
        </p:nvSpPr>
        <p:spPr>
          <a:xfrm>
            <a:off x="3799433" y="439597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9"/>
          <p:cNvSpPr/>
          <p:nvPr/>
        </p:nvSpPr>
        <p:spPr>
          <a:xfrm>
            <a:off x="4135484" y="439597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9"/>
          <p:cNvSpPr/>
          <p:nvPr/>
        </p:nvSpPr>
        <p:spPr>
          <a:xfrm>
            <a:off x="4471535" y="439597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9"/>
          <p:cNvSpPr/>
          <p:nvPr/>
        </p:nvSpPr>
        <p:spPr>
          <a:xfrm>
            <a:off x="4807586" y="439597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9"/>
          <p:cNvSpPr/>
          <p:nvPr/>
        </p:nvSpPr>
        <p:spPr>
          <a:xfrm>
            <a:off x="5143637" y="439597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9"/>
          <p:cNvSpPr/>
          <p:nvPr/>
        </p:nvSpPr>
        <p:spPr>
          <a:xfrm>
            <a:off x="5479688" y="439597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9"/>
          <p:cNvSpPr/>
          <p:nvPr/>
        </p:nvSpPr>
        <p:spPr>
          <a:xfrm>
            <a:off x="5815739" y="439597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9"/>
          <p:cNvSpPr/>
          <p:nvPr/>
        </p:nvSpPr>
        <p:spPr>
          <a:xfrm>
            <a:off x="6151789" y="439597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9"/>
          <p:cNvSpPr/>
          <p:nvPr/>
        </p:nvSpPr>
        <p:spPr>
          <a:xfrm>
            <a:off x="6487841" y="439597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9"/>
          <p:cNvSpPr/>
          <p:nvPr/>
        </p:nvSpPr>
        <p:spPr>
          <a:xfrm>
            <a:off x="6823892" y="439597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9"/>
          <p:cNvSpPr/>
          <p:nvPr/>
        </p:nvSpPr>
        <p:spPr>
          <a:xfrm>
            <a:off x="7159943" y="439597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39"/>
          <p:cNvSpPr/>
          <p:nvPr/>
        </p:nvSpPr>
        <p:spPr>
          <a:xfrm>
            <a:off x="7495994" y="439597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9"/>
          <p:cNvSpPr/>
          <p:nvPr/>
        </p:nvSpPr>
        <p:spPr>
          <a:xfrm>
            <a:off x="7832045" y="439597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9"/>
          <p:cNvSpPr/>
          <p:nvPr/>
        </p:nvSpPr>
        <p:spPr>
          <a:xfrm>
            <a:off x="8168096" y="4395977"/>
            <a:ext cx="325800" cy="195600"/>
          </a:xfrm>
          <a:prstGeom prst="rect">
            <a:avLst/>
          </a:prstGeom>
          <a:solidFill>
            <a:srgbClr val="0C1625"/>
          </a:solidFill>
          <a:ln cap="flat" cmpd="sng" w="7150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9"/>
          <p:cNvSpPr/>
          <p:nvPr/>
        </p:nvSpPr>
        <p:spPr>
          <a:xfrm>
            <a:off x="7519997" y="4419980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5D5FE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9"/>
          <p:cNvSpPr/>
          <p:nvPr/>
        </p:nvSpPr>
        <p:spPr>
          <a:xfrm>
            <a:off x="7856048" y="4419980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5D5FE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9"/>
          <p:cNvSpPr/>
          <p:nvPr/>
        </p:nvSpPr>
        <p:spPr>
          <a:xfrm>
            <a:off x="8192099" y="4419980"/>
            <a:ext cx="277800" cy="144000"/>
          </a:xfrm>
          <a:prstGeom prst="roundRect">
            <a:avLst>
              <a:gd fmla="val 16667" name="adj"/>
            </a:avLst>
          </a:prstGeom>
          <a:solidFill>
            <a:srgbClr val="5D5FE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9"/>
          <p:cNvSpPr/>
          <p:nvPr/>
        </p:nvSpPr>
        <p:spPr>
          <a:xfrm>
            <a:off x="2455229" y="1741932"/>
            <a:ext cx="17100" cy="2558100"/>
          </a:xfrm>
          <a:prstGeom prst="rect">
            <a:avLst/>
          </a:prstGeom>
          <a:solidFill>
            <a:srgbClr val="5D5FE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9"/>
          <p:cNvSpPr/>
          <p:nvPr/>
        </p:nvSpPr>
        <p:spPr>
          <a:xfrm>
            <a:off x="3799433" y="1741932"/>
            <a:ext cx="17100" cy="2558100"/>
          </a:xfrm>
          <a:prstGeom prst="rect">
            <a:avLst/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9"/>
          <p:cNvSpPr/>
          <p:nvPr/>
        </p:nvSpPr>
        <p:spPr>
          <a:xfrm>
            <a:off x="7495994" y="1741932"/>
            <a:ext cx="17100" cy="2558100"/>
          </a:xfrm>
          <a:prstGeom prst="rect">
            <a:avLst/>
          </a:prstGeom>
          <a:solidFill>
            <a:srgbClr val="FF6784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39"/>
          <p:cNvSpPr txBox="1"/>
          <p:nvPr/>
        </p:nvSpPr>
        <p:spPr>
          <a:xfrm>
            <a:off x="8401274" y="4855464"/>
            <a:ext cx="308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600" u="none" cap="none" strike="noStrike">
                <a:solidFill>
                  <a:srgbClr val="9BA5B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11F"/>
        </a:solidFill>
      </p:bgPr>
    </p:bg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40"/>
          <p:cNvSpPr/>
          <p:nvPr/>
        </p:nvSpPr>
        <p:spPr>
          <a:xfrm>
            <a:off x="0" y="0"/>
            <a:ext cx="9144000" cy="41100"/>
          </a:xfrm>
          <a:prstGeom prst="rect">
            <a:avLst/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40"/>
          <p:cNvSpPr txBox="1"/>
          <p:nvPr/>
        </p:nvSpPr>
        <p:spPr>
          <a:xfrm>
            <a:off x="514364" y="260604"/>
            <a:ext cx="3086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700" u="none" cap="none" strike="noStrike">
                <a:solidFill>
                  <a:srgbClr val="2FD1C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s" sz="700">
                <a:solidFill>
                  <a:srgbClr val="2FD1C1"/>
                </a:solidFill>
              </a:rPr>
              <a:t>3</a:t>
            </a:r>
            <a:r>
              <a:rPr b="1" i="0" lang="es" sz="700" u="none" cap="none" strike="noStrike">
                <a:solidFill>
                  <a:srgbClr val="2FD1C1"/>
                </a:solidFill>
                <a:latin typeface="Arial"/>
                <a:ea typeface="Arial"/>
                <a:cs typeface="Arial"/>
                <a:sym typeface="Arial"/>
              </a:rPr>
              <a:t> · CONCLUSIÓN</a:t>
            </a:r>
            <a:endParaRPr sz="1100"/>
          </a:p>
        </p:txBody>
      </p:sp>
      <p:sp>
        <p:nvSpPr>
          <p:cNvPr id="1008" name="Google Shape;1008;p40"/>
          <p:cNvSpPr txBox="1"/>
          <p:nvPr/>
        </p:nvSpPr>
        <p:spPr>
          <a:xfrm>
            <a:off x="534938" y="562356"/>
            <a:ext cx="370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EMOTIONLAB</a:t>
            </a:r>
            <a:endParaRPr sz="1100"/>
          </a:p>
        </p:txBody>
      </p:sp>
      <p:sp>
        <p:nvSpPr>
          <p:cNvPr id="1009" name="Google Shape;1009;p40"/>
          <p:cNvSpPr txBox="1"/>
          <p:nvPr/>
        </p:nvSpPr>
        <p:spPr>
          <a:xfrm>
            <a:off x="534938" y="939546"/>
            <a:ext cx="788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2FD1C1"/>
                </a:solidFill>
                <a:latin typeface="Arial"/>
                <a:ea typeface="Arial"/>
                <a:cs typeface="Arial"/>
                <a:sym typeface="Arial"/>
              </a:rPr>
              <a:t>lleva el estrés de lo invisible a lo interpretable</a:t>
            </a:r>
            <a:endParaRPr sz="1100"/>
          </a:p>
        </p:txBody>
      </p:sp>
      <p:sp>
        <p:nvSpPr>
          <p:cNvPr id="1010" name="Google Shape;1010;p40"/>
          <p:cNvSpPr/>
          <p:nvPr/>
        </p:nvSpPr>
        <p:spPr>
          <a:xfrm>
            <a:off x="524488" y="1319727"/>
            <a:ext cx="8037900" cy="740700"/>
          </a:xfrm>
          <a:prstGeom prst="roundRect">
            <a:avLst>
              <a:gd fmla="val 16667" name="adj"/>
            </a:avLst>
          </a:prstGeom>
          <a:solidFill>
            <a:srgbClr val="123035"/>
          </a:solidFill>
          <a:ln cap="flat" cmpd="sng" w="7625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40"/>
          <p:cNvSpPr txBox="1"/>
          <p:nvPr/>
        </p:nvSpPr>
        <p:spPr>
          <a:xfrm>
            <a:off x="720109" y="1556766"/>
            <a:ext cx="764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El proyecto propone una herramienta que integra IA, análisis de datos e interfaz web para transformar reacciones de estrés en información visual y accionable</a:t>
            </a:r>
            <a:endParaRPr sz="1000"/>
          </a:p>
        </p:txBody>
      </p:sp>
      <p:sp>
        <p:nvSpPr>
          <p:cNvPr id="1012" name="Google Shape;1012;p40"/>
          <p:cNvSpPr/>
          <p:nvPr/>
        </p:nvSpPr>
        <p:spPr>
          <a:xfrm>
            <a:off x="562371" y="2350431"/>
            <a:ext cx="329100" cy="329100"/>
          </a:xfrm>
          <a:prstGeom prst="ellipse">
            <a:avLst/>
          </a:prstGeom>
          <a:solidFill>
            <a:srgbClr val="FF6784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40"/>
          <p:cNvSpPr txBox="1"/>
          <p:nvPr/>
        </p:nvSpPr>
        <p:spPr>
          <a:xfrm>
            <a:off x="562371" y="2448552"/>
            <a:ext cx="329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60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1014" name="Google Shape;1014;p40"/>
          <p:cNvSpPr txBox="1"/>
          <p:nvPr/>
        </p:nvSpPr>
        <p:spPr>
          <a:xfrm>
            <a:off x="1063018" y="2434590"/>
            <a:ext cx="1509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FF6784"/>
                </a:solidFill>
                <a:latin typeface="Arial"/>
                <a:ea typeface="Arial"/>
                <a:cs typeface="Arial"/>
                <a:sym typeface="Arial"/>
              </a:rPr>
              <a:t>NECESIDAD</a:t>
            </a:r>
            <a:endParaRPr sz="1100"/>
          </a:p>
        </p:txBody>
      </p:sp>
      <p:sp>
        <p:nvSpPr>
          <p:cNvPr id="1015" name="Google Shape;1015;p40"/>
          <p:cNvSpPr txBox="1"/>
          <p:nvPr/>
        </p:nvSpPr>
        <p:spPr>
          <a:xfrm>
            <a:off x="2228909" y="2414016"/>
            <a:ext cx="59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Medir lo que hoy es difícil de observar.</a:t>
            </a:r>
            <a:endParaRPr sz="1100"/>
          </a:p>
        </p:txBody>
      </p:sp>
      <p:sp>
        <p:nvSpPr>
          <p:cNvPr id="1016" name="Google Shape;1016;p40"/>
          <p:cNvSpPr/>
          <p:nvPr/>
        </p:nvSpPr>
        <p:spPr>
          <a:xfrm>
            <a:off x="562371" y="2867363"/>
            <a:ext cx="329100" cy="329100"/>
          </a:xfrm>
          <a:prstGeom prst="ellipse">
            <a:avLst/>
          </a:prstGeom>
          <a:solidFill>
            <a:srgbClr val="5D5FEF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40"/>
          <p:cNvSpPr txBox="1"/>
          <p:nvPr/>
        </p:nvSpPr>
        <p:spPr>
          <a:xfrm>
            <a:off x="562371" y="2987861"/>
            <a:ext cx="329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60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1018" name="Google Shape;1018;p40"/>
          <p:cNvSpPr txBox="1"/>
          <p:nvPr/>
        </p:nvSpPr>
        <p:spPr>
          <a:xfrm>
            <a:off x="1063018" y="2955797"/>
            <a:ext cx="1509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5D5FEF"/>
                </a:solidFill>
                <a:latin typeface="Arial"/>
                <a:ea typeface="Arial"/>
                <a:cs typeface="Arial"/>
                <a:sym typeface="Arial"/>
              </a:rPr>
              <a:t>PROPUESTA</a:t>
            </a:r>
            <a:endParaRPr sz="1100"/>
          </a:p>
        </p:txBody>
      </p:sp>
      <p:sp>
        <p:nvSpPr>
          <p:cNvPr id="1019" name="Google Shape;1019;p40"/>
          <p:cNvSpPr txBox="1"/>
          <p:nvPr/>
        </p:nvSpPr>
        <p:spPr>
          <a:xfrm>
            <a:off x="2228909" y="2935223"/>
            <a:ext cx="59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Integrar predicción, analíticas y seguridad en un solo sistema.</a:t>
            </a:r>
            <a:endParaRPr sz="1100"/>
          </a:p>
        </p:txBody>
      </p:sp>
      <p:sp>
        <p:nvSpPr>
          <p:cNvPr id="1020" name="Google Shape;1020;p40"/>
          <p:cNvSpPr/>
          <p:nvPr/>
        </p:nvSpPr>
        <p:spPr>
          <a:xfrm>
            <a:off x="562371" y="3388571"/>
            <a:ext cx="329100" cy="329100"/>
          </a:xfrm>
          <a:prstGeom prst="ellipse">
            <a:avLst/>
          </a:prstGeom>
          <a:solidFill>
            <a:srgbClr val="2FD1C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40"/>
          <p:cNvSpPr txBox="1"/>
          <p:nvPr/>
        </p:nvSpPr>
        <p:spPr>
          <a:xfrm>
            <a:off x="562371" y="3492294"/>
            <a:ext cx="329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600" u="none" cap="none" strike="noStrike">
                <a:solidFill>
                  <a:srgbClr val="08111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1022" name="Google Shape;1022;p40"/>
          <p:cNvSpPr txBox="1"/>
          <p:nvPr/>
        </p:nvSpPr>
        <p:spPr>
          <a:xfrm>
            <a:off x="1063018" y="3477005"/>
            <a:ext cx="1509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2FD1C1"/>
                </a:solidFill>
                <a:latin typeface="Arial"/>
                <a:ea typeface="Arial"/>
                <a:cs typeface="Arial"/>
                <a:sym typeface="Arial"/>
              </a:rPr>
              <a:t>PROYECCIÓN</a:t>
            </a:r>
            <a:endParaRPr sz="1100"/>
          </a:p>
        </p:txBody>
      </p:sp>
      <p:sp>
        <p:nvSpPr>
          <p:cNvPr id="1023" name="Google Shape;1023;p40"/>
          <p:cNvSpPr txBox="1"/>
          <p:nvPr/>
        </p:nvSpPr>
        <p:spPr>
          <a:xfrm>
            <a:off x="2228909" y="3456431"/>
            <a:ext cx="59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Validar con datos reales y dejar una base preparada para evolucionar.</a:t>
            </a:r>
            <a:endParaRPr sz="1100"/>
          </a:p>
        </p:txBody>
      </p:sp>
      <p:sp>
        <p:nvSpPr>
          <p:cNvPr id="1024" name="Google Shape;1024;p40"/>
          <p:cNvSpPr/>
          <p:nvPr/>
        </p:nvSpPr>
        <p:spPr>
          <a:xfrm>
            <a:off x="534938" y="4080510"/>
            <a:ext cx="8037900" cy="466500"/>
          </a:xfrm>
          <a:prstGeom prst="roundRect">
            <a:avLst>
              <a:gd fmla="val 16667" name="adj"/>
            </a:avLst>
          </a:prstGeom>
          <a:solidFill>
            <a:srgbClr val="121C2F"/>
          </a:solidFill>
          <a:ln cap="flat" cmpd="sng" w="7625">
            <a:solidFill>
              <a:srgbClr val="2B354A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40"/>
          <p:cNvSpPr txBox="1"/>
          <p:nvPr/>
        </p:nvSpPr>
        <p:spPr>
          <a:xfrm>
            <a:off x="685818" y="4197096"/>
            <a:ext cx="7715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 UN MODELO PREDICTIVO  →  A UNA SOLUCIÓN UTILIZABLE, SEGURA Y ESCALABLE</a:t>
            </a:r>
            <a:endParaRPr sz="1100"/>
          </a:p>
        </p:txBody>
      </p:sp>
      <p:sp>
        <p:nvSpPr>
          <p:cNvPr id="1026" name="Google Shape;1026;p40"/>
          <p:cNvSpPr txBox="1"/>
          <p:nvPr/>
        </p:nvSpPr>
        <p:spPr>
          <a:xfrm>
            <a:off x="8401274" y="4855464"/>
            <a:ext cx="308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600" u="none" cap="none" strike="noStrike">
                <a:solidFill>
                  <a:srgbClr val="9BA5B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4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41"/>
          <p:cNvSpPr txBox="1"/>
          <p:nvPr/>
        </p:nvSpPr>
        <p:spPr>
          <a:xfrm>
            <a:off x="548655" y="720090"/>
            <a:ext cx="5829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Github</a:t>
            </a:r>
            <a:endParaRPr sz="1100"/>
          </a:p>
        </p:txBody>
      </p:sp>
      <p:sp>
        <p:nvSpPr>
          <p:cNvPr id="1033" name="Google Shape;1033;p41"/>
          <p:cNvSpPr txBox="1"/>
          <p:nvPr/>
        </p:nvSpPr>
        <p:spPr>
          <a:xfrm>
            <a:off x="8264110" y="4821174"/>
            <a:ext cx="342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34" name="Google Shape;1034;p41"/>
          <p:cNvSpPr/>
          <p:nvPr/>
        </p:nvSpPr>
        <p:spPr>
          <a:xfrm>
            <a:off x="582946" y="2297430"/>
            <a:ext cx="7852800" cy="452700"/>
          </a:xfrm>
          <a:prstGeom prst="roundRect">
            <a:avLst>
              <a:gd fmla="val 16667" name="adj"/>
            </a:avLst>
          </a:prstGeom>
          <a:solidFill>
            <a:srgbClr val="121B2D"/>
          </a:solidFill>
          <a:ln cap="flat" cmpd="sng" w="7150">
            <a:solidFill>
              <a:srgbClr val="2B374E"/>
            </a:solidFill>
            <a:prstDash val="solid"/>
            <a:round/>
            <a:headEnd len="sm" w="sm" type="none"/>
            <a:tailEnd len="sm" w="sm" type="none"/>
          </a:ln>
          <a:effectLst>
            <a:outerShdw blurRad="30001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41"/>
          <p:cNvSpPr txBox="1"/>
          <p:nvPr/>
        </p:nvSpPr>
        <p:spPr>
          <a:xfrm>
            <a:off x="768116" y="2414016"/>
            <a:ext cx="2263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36" name="Google Shape;1036;p41"/>
          <p:cNvSpPr txBox="1"/>
          <p:nvPr/>
        </p:nvSpPr>
        <p:spPr>
          <a:xfrm>
            <a:off x="768118" y="2310263"/>
            <a:ext cx="7187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SzPts val="800"/>
              <a:buNone/>
            </a:pPr>
            <a:r>
              <a:rPr b="1" lang="es" sz="2300">
                <a:solidFill>
                  <a:srgbClr val="F8FAFC"/>
                </a:solidFill>
                <a:uFill>
                  <a:noFill/>
                </a:u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EmilyGonzalezU/Emotionlab-Docs</a:t>
            </a:r>
            <a:r>
              <a:rPr b="1" lang="es" sz="23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